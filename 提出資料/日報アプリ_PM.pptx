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5" r:id="rId5"/>
    <p:sldId id="258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7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5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1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49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19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2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56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41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D270DE-BF57-EAAA-9B62-3935430BA877}"/>
              </a:ext>
            </a:extLst>
          </p:cNvPr>
          <p:cNvSpPr txBox="1"/>
          <p:nvPr/>
        </p:nvSpPr>
        <p:spPr>
          <a:xfrm>
            <a:off x="1747694" y="2271935"/>
            <a:ext cx="8696611" cy="1962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54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プロジェクトマネジメント</a:t>
            </a:r>
            <a:endParaRPr kumimoji="1" lang="en-US" altLang="ja-JP" sz="54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algn="ctr">
              <a:lnSpc>
                <a:spcPct val="150000"/>
              </a:lnSpc>
            </a:pPr>
            <a:r>
              <a:rPr lang="en-US" altLang="ja-JP" sz="3200" dirty="0">
                <a:latin typeface="+mj-ea"/>
                <a:ea typeface="+mj-ea"/>
              </a:rPr>
              <a:t>GitHub</a:t>
            </a:r>
            <a:r>
              <a:rPr lang="ja-JP" altLang="en-US" sz="3200" dirty="0">
                <a:latin typeface="+mj-ea"/>
                <a:ea typeface="+mj-ea"/>
              </a:rPr>
              <a:t>と</a:t>
            </a:r>
            <a:r>
              <a:rPr lang="en-US" altLang="ja-JP" sz="3200" dirty="0">
                <a:latin typeface="+mj-ea"/>
                <a:ea typeface="+mj-ea"/>
              </a:rPr>
              <a:t>Project Board</a:t>
            </a:r>
            <a:r>
              <a:rPr lang="ja-JP" altLang="en-US" sz="3200" dirty="0">
                <a:latin typeface="+mj-ea"/>
                <a:ea typeface="+mj-ea"/>
              </a:rPr>
              <a:t>を用いた開発プロセス管理</a:t>
            </a:r>
            <a:endParaRPr kumimoji="1" lang="ja-JP" altLang="en-US" sz="3200" b="1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504F19-AB7E-AD73-461D-CC4095005594}"/>
              </a:ext>
            </a:extLst>
          </p:cNvPr>
          <p:cNvSpPr txBox="1"/>
          <p:nvPr/>
        </p:nvSpPr>
        <p:spPr>
          <a:xfrm>
            <a:off x="128337" y="5650832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チームメンバー：渡邉諒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(2442102)</a:t>
            </a:r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・田中誠真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(2442054)</a:t>
            </a:r>
            <a:endParaRPr kumimoji="1"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582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DF0D4F-5C7A-0C73-FF31-23122D0E3251}"/>
              </a:ext>
            </a:extLst>
          </p:cNvPr>
          <p:cNvSpPr txBox="1"/>
          <p:nvPr/>
        </p:nvSpPr>
        <p:spPr>
          <a:xfrm>
            <a:off x="1202135" y="676763"/>
            <a:ext cx="8371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プロジェクト管理の基本戦略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657DC8-50D6-A289-BEB4-4A097DB1EF3D}"/>
              </a:ext>
            </a:extLst>
          </p:cNvPr>
          <p:cNvSpPr txBox="1"/>
          <p:nvPr/>
        </p:nvSpPr>
        <p:spPr>
          <a:xfrm>
            <a:off x="406885" y="2103328"/>
            <a:ext cx="11378230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/>
              <a:t>・コードの一元管理</a:t>
            </a:r>
            <a:r>
              <a:rPr lang="en-US" altLang="ja-JP" sz="2800" dirty="0"/>
              <a:t>: GitHub</a:t>
            </a:r>
            <a:r>
              <a:rPr lang="ja-JP" altLang="en-US" sz="2800" dirty="0"/>
              <a:t>リポジトリを作成し、ソースコード、ドキュメント、インフラ設定（</a:t>
            </a:r>
            <a:r>
              <a:rPr lang="en-US" altLang="ja-JP" sz="2800" dirty="0"/>
              <a:t>Docker</a:t>
            </a:r>
            <a:r>
              <a:rPr lang="ja-JP" altLang="en-US" sz="2800" dirty="0"/>
              <a:t>）を集約しました。</a:t>
            </a:r>
            <a:endParaRPr lang="en-US" altLang="ja-JP" sz="2800" dirty="0"/>
          </a:p>
          <a:p>
            <a:pPr>
              <a:spcAft>
                <a:spcPts val="1800"/>
              </a:spcAft>
            </a:pPr>
            <a:r>
              <a:rPr lang="ja-JP" altLang="en-US" sz="2800" dirty="0"/>
              <a:t> ・タスクの可視化</a:t>
            </a:r>
            <a:r>
              <a:rPr lang="en-US" altLang="ja-JP" sz="2800" dirty="0"/>
              <a:t>: GitHub Projects</a:t>
            </a:r>
            <a:r>
              <a:rPr lang="ja-JP" altLang="en-US" sz="2800" dirty="0"/>
              <a:t>（</a:t>
            </a:r>
            <a:r>
              <a:rPr lang="en-US" altLang="ja-JP" sz="2800" dirty="0"/>
              <a:t>Kanban</a:t>
            </a:r>
            <a:r>
              <a:rPr lang="ja-JP" altLang="en-US" sz="2800" dirty="0"/>
              <a:t>）を導入し、「未着手」「進行中」「完了」のステータスを可視化しました。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59202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364D-54C9-D6F6-0CF0-C9E77891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CAEC88-5000-E7CD-6B22-C14B4637B13E}"/>
              </a:ext>
            </a:extLst>
          </p:cNvPr>
          <p:cNvSpPr txBox="1"/>
          <p:nvPr/>
        </p:nvSpPr>
        <p:spPr>
          <a:xfrm>
            <a:off x="1202135" y="676763"/>
            <a:ext cx="96664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GitHub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リポジトリによる構成管理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029BA2-DBDE-21A5-6175-5688B34FF5F0}"/>
              </a:ext>
            </a:extLst>
          </p:cNvPr>
          <p:cNvSpPr txBox="1"/>
          <p:nvPr/>
        </p:nvSpPr>
        <p:spPr>
          <a:xfrm>
            <a:off x="406885" y="1874728"/>
            <a:ext cx="11378230" cy="5029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ts val="1800"/>
              </a:spcAft>
            </a:pPr>
            <a:r>
              <a:rPr lang="ja-JP" altLang="en-US" sz="2800" dirty="0"/>
              <a:t>リポジトリ名</a:t>
            </a:r>
            <a:r>
              <a:rPr lang="en-US" altLang="ja-JP" sz="2800" dirty="0"/>
              <a:t>: </a:t>
            </a:r>
            <a:r>
              <a:rPr lang="en-US" altLang="ja-JP" sz="2800" dirty="0" err="1"/>
              <a:t>DailyReportApp</a:t>
            </a:r>
            <a:r>
              <a:rPr lang="en-US" altLang="ja-JP" sz="2800" dirty="0"/>
              <a:t>-database-</a:t>
            </a:r>
            <a:r>
              <a:rPr lang="en-US" altLang="ja-JP" sz="2800" dirty="0" err="1"/>
              <a:t>lecture_ver</a:t>
            </a:r>
            <a:r>
              <a:rPr lang="en-US" altLang="ja-JP" sz="2800" dirty="0"/>
              <a:t>-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/>
              <a:t>管理対象</a:t>
            </a:r>
            <a:r>
              <a:rPr lang="en-US" altLang="ja-JP" sz="2800" dirty="0"/>
              <a:t>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・アプリケーションコード </a:t>
            </a:r>
            <a:r>
              <a:rPr lang="en-US" altLang="ja-JP" sz="2800" dirty="0"/>
              <a:t>(Django)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・インフラコード </a:t>
            </a:r>
            <a:r>
              <a:rPr lang="en-US" altLang="ja-JP" sz="2800" dirty="0"/>
              <a:t>(Docker Compose, </a:t>
            </a:r>
            <a:r>
              <a:rPr lang="en-US" altLang="ja-JP" sz="2800" dirty="0" err="1"/>
              <a:t>Dockerfile</a:t>
            </a:r>
            <a:r>
              <a:rPr lang="en-US" altLang="ja-JP" sz="2800" dirty="0"/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・データベース設計書 </a:t>
            </a:r>
            <a:r>
              <a:rPr lang="en-US" altLang="ja-JP" sz="2800" dirty="0"/>
              <a:t>(ER</a:t>
            </a:r>
            <a:r>
              <a:rPr lang="ja-JP" altLang="en-US" sz="2800" dirty="0"/>
              <a:t>図</a:t>
            </a:r>
            <a:r>
              <a:rPr lang="en-US" altLang="ja-JP" sz="2800" dirty="0"/>
              <a:t>, </a:t>
            </a:r>
            <a:r>
              <a:rPr lang="ja-JP" altLang="en-US" sz="2800" dirty="0"/>
              <a:t>スキーマ定義</a:t>
            </a:r>
            <a:r>
              <a:rPr lang="en-US" altLang="ja-JP" sz="2800" dirty="0"/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18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</a:t>
            </a:r>
            <a:r>
              <a:rPr lang="en-US" altLang="ja-JP" sz="2800" dirty="0"/>
              <a:t> </a:t>
            </a:r>
            <a:r>
              <a:rPr lang="ja-JP" altLang="en-US" sz="2800" dirty="0"/>
              <a:t>ドキュメント </a:t>
            </a:r>
            <a:r>
              <a:rPr lang="en-US" altLang="ja-JP" sz="2800" dirty="0"/>
              <a:t>(README)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1800"/>
              </a:spcAft>
            </a:pPr>
            <a:r>
              <a:rPr lang="ja-JP" altLang="en-US" sz="2800" dirty="0"/>
              <a:t>工夫点</a:t>
            </a:r>
            <a:r>
              <a:rPr lang="en-US" altLang="ja-JP" sz="2800" dirty="0"/>
              <a:t>: .</a:t>
            </a:r>
            <a:r>
              <a:rPr lang="en-US" altLang="ja-JP" sz="2800" dirty="0" err="1"/>
              <a:t>gitignore</a:t>
            </a:r>
            <a:r>
              <a:rPr lang="en-US" altLang="ja-JP" sz="2800" dirty="0"/>
              <a:t> </a:t>
            </a:r>
            <a:r>
              <a:rPr lang="ja-JP" altLang="en-US" sz="2800" dirty="0"/>
              <a:t>を適切に設定し、不要ファイル（</a:t>
            </a:r>
            <a:r>
              <a:rPr lang="en-US" altLang="ja-JP" sz="2800" u="sng" dirty="0" err="1"/>
              <a:t>pycache</a:t>
            </a:r>
            <a:r>
              <a:rPr lang="ja-JP" altLang="en-US" sz="2800" dirty="0"/>
              <a:t>や</a:t>
            </a:r>
            <a:r>
              <a:rPr lang="en-US" altLang="ja-JP" sz="2800" dirty="0"/>
              <a:t>DB</a:t>
            </a:r>
            <a:r>
              <a:rPr lang="ja-JP" altLang="en-US" sz="2800" dirty="0"/>
              <a:t>データの実体）の混入を防止しました。</a:t>
            </a:r>
            <a:endParaRPr lang="en-US" altLang="ja-JP" sz="28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ja-JP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69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2B0AE-8D13-7208-9A63-21C1B10F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51FB2C-ED94-43CE-4919-73778C2A8E74}"/>
              </a:ext>
            </a:extLst>
          </p:cNvPr>
          <p:cNvSpPr txBox="1"/>
          <p:nvPr/>
        </p:nvSpPr>
        <p:spPr>
          <a:xfrm>
            <a:off x="1202135" y="676763"/>
            <a:ext cx="96664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GitHub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リポジトリによる構成管理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C55644-A406-C55E-0D6E-90CE031B480D}"/>
              </a:ext>
            </a:extLst>
          </p:cNvPr>
          <p:cNvSpPr txBox="1"/>
          <p:nvPr/>
        </p:nvSpPr>
        <p:spPr>
          <a:xfrm>
            <a:off x="406885" y="1874728"/>
            <a:ext cx="1137823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ts val="1800"/>
              </a:spcAft>
            </a:pPr>
            <a:r>
              <a:rPr lang="en-US" altLang="ja-JP" sz="2800" dirty="0">
                <a:latin typeface="Arial" panose="020B0604020202020204" pitchFamily="34" charset="0"/>
              </a:rPr>
              <a:t>&lt;</a:t>
            </a:r>
            <a:r>
              <a:rPr lang="ja-JP" altLang="en-US" sz="2800" dirty="0">
                <a:latin typeface="Arial" panose="020B0604020202020204" pitchFamily="34" charset="0"/>
              </a:rPr>
              <a:t>リポジトリトップ画面</a:t>
            </a:r>
            <a:r>
              <a:rPr lang="en-US" altLang="ja-JP" sz="2800" dirty="0">
                <a:latin typeface="Arial" panose="020B0604020202020204" pitchFamily="34" charset="0"/>
              </a:rPr>
              <a:t>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1800"/>
              </a:spcAft>
            </a:pPr>
            <a:endParaRPr lang="en-US" altLang="ja-JP" sz="2800" dirty="0">
              <a:latin typeface="Arial" panose="020B0604020202020204" pitchFamily="34" charset="0"/>
            </a:endParaRPr>
          </a:p>
        </p:txBody>
      </p:sp>
      <p:pic>
        <p:nvPicPr>
          <p:cNvPr id="3" name="図 2" descr="テレビ画面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643A00CF-658D-29B0-E0CA-E6DA9CFC5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104" y="2438400"/>
            <a:ext cx="6959792" cy="374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9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B7D9-9206-9D0B-3FA5-57E8C857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F0AE52-6400-EB9B-F9D8-19CAA5278CF1}"/>
              </a:ext>
            </a:extLst>
          </p:cNvPr>
          <p:cNvSpPr txBox="1"/>
          <p:nvPr/>
        </p:nvSpPr>
        <p:spPr>
          <a:xfrm>
            <a:off x="1218177" y="630780"/>
            <a:ext cx="100559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Kanban Board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によるタスク管理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18871F-DAA0-B20E-06D8-2175E54E9615}"/>
              </a:ext>
            </a:extLst>
          </p:cNvPr>
          <p:cNvSpPr txBox="1"/>
          <p:nvPr/>
        </p:nvSpPr>
        <p:spPr>
          <a:xfrm>
            <a:off x="406885" y="1874728"/>
            <a:ext cx="113782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ja-JP" altLang="en-US" sz="2800" dirty="0"/>
              <a:t>運用フロー</a:t>
            </a:r>
            <a:r>
              <a:rPr lang="en-US" altLang="ja-JP" sz="2800" dirty="0"/>
              <a:t>: </a:t>
            </a:r>
          </a:p>
          <a:p>
            <a:pPr lvl="0" defTabSz="914400" eaLnBrk="0" fontAlgn="base" hangingPunct="0"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</a:t>
            </a:r>
            <a:r>
              <a:rPr lang="en-US" altLang="ja-JP" sz="2800" dirty="0"/>
              <a:t>Issue</a:t>
            </a:r>
            <a:r>
              <a:rPr lang="ja-JP" altLang="en-US" sz="2800" dirty="0"/>
              <a:t>作成</a:t>
            </a:r>
            <a:r>
              <a:rPr lang="en-US" altLang="ja-JP" sz="2800" dirty="0"/>
              <a:t>: </a:t>
            </a:r>
            <a:r>
              <a:rPr lang="ja-JP" altLang="en-US" sz="2800" dirty="0"/>
              <a:t>必要な作業（</a:t>
            </a:r>
            <a:r>
              <a:rPr lang="en-US" altLang="ja-JP" sz="2800" dirty="0"/>
              <a:t>DB</a:t>
            </a:r>
            <a:r>
              <a:rPr lang="ja-JP" altLang="en-US" sz="2800" dirty="0"/>
              <a:t>構築、コーディング等）をチケット化。 </a:t>
            </a:r>
            <a:endParaRPr lang="en-US" altLang="ja-JP" sz="2800" dirty="0"/>
          </a:p>
          <a:p>
            <a:pPr lvl="0" defTabSz="914400" eaLnBrk="0" fontAlgn="base" hangingPunct="0"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・ステータス管理</a:t>
            </a:r>
            <a:r>
              <a:rPr lang="en-US" altLang="ja-JP" sz="2800" dirty="0"/>
              <a:t>: </a:t>
            </a:r>
            <a:r>
              <a:rPr lang="ja-JP" altLang="en-US" sz="2800" dirty="0"/>
              <a:t>作業状況に合わせてカードを移動。</a:t>
            </a:r>
            <a:endParaRPr lang="en-US" altLang="ja-JP" sz="2800" dirty="0"/>
          </a:p>
          <a:p>
            <a:pPr lvl="0" defTabSz="914400" eaLnBrk="0" fontAlgn="base" hangingPunct="0"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・完了定義</a:t>
            </a:r>
            <a:r>
              <a:rPr lang="en-US" altLang="ja-JP" sz="2800" dirty="0"/>
              <a:t>: </a:t>
            </a:r>
            <a:r>
              <a:rPr lang="ja-JP" altLang="en-US" sz="2800" dirty="0"/>
              <a:t>実装と動作確認を終えたタスクを</a:t>
            </a:r>
            <a:r>
              <a:rPr lang="en-US" altLang="ja-JP" sz="2800" dirty="0"/>
              <a:t>Close</a:t>
            </a:r>
            <a:r>
              <a:rPr lang="ja-JP" altLang="en-US" sz="2800" dirty="0"/>
              <a:t>。 </a:t>
            </a:r>
            <a:endParaRPr lang="en-US" altLang="ja-JP" sz="2800" dirty="0"/>
          </a:p>
          <a:p>
            <a:pPr lvl="0" defTabSz="914400" eaLnBrk="0" fontAlgn="base" hangingPunct="0">
              <a:spcBef>
                <a:spcPts val="1800"/>
              </a:spcBef>
              <a:spcAft>
                <a:spcPct val="0"/>
              </a:spcAft>
            </a:pPr>
            <a:r>
              <a:rPr lang="ja-JP" altLang="en-US" sz="2800" dirty="0"/>
              <a:t>主なタスク</a:t>
            </a:r>
            <a:r>
              <a:rPr lang="en-US" altLang="ja-JP" sz="2800" dirty="0"/>
              <a:t>:</a:t>
            </a:r>
          </a:p>
          <a:p>
            <a:pPr lvl="0" defTabSz="914400" eaLnBrk="0" fontAlgn="base" hangingPunct="0"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</a:t>
            </a:r>
            <a:r>
              <a:rPr lang="en-US" altLang="ja-JP" sz="2800" dirty="0"/>
              <a:t>【</a:t>
            </a:r>
            <a:r>
              <a:rPr lang="en-US" altLang="ja-JP" sz="2800" dirty="0" err="1"/>
              <a:t>Infra】DB</a:t>
            </a:r>
            <a:r>
              <a:rPr lang="en-US" altLang="ja-JP" sz="2800" dirty="0"/>
              <a:t>, Application Server, </a:t>
            </a:r>
            <a:r>
              <a:rPr lang="en-US" altLang="ja-JP" sz="2800" dirty="0" err="1"/>
              <a:t>WebServer</a:t>
            </a:r>
            <a:r>
              <a:rPr lang="ja-JP" altLang="en-US" sz="2800" dirty="0"/>
              <a:t>の構築</a:t>
            </a:r>
            <a:endParaRPr lang="en-US" altLang="ja-JP" sz="2800" dirty="0"/>
          </a:p>
          <a:p>
            <a:pPr lvl="0" defTabSz="914400" eaLnBrk="0" fontAlgn="base" hangingPunct="0"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</a:t>
            </a:r>
            <a:r>
              <a:rPr lang="en-US" altLang="ja-JP" sz="2800" dirty="0"/>
              <a:t>【BA】</a:t>
            </a:r>
            <a:r>
              <a:rPr lang="ja-JP" altLang="en-US" sz="2800" dirty="0"/>
              <a:t>ペルソナの定義</a:t>
            </a:r>
            <a:endParaRPr lang="en-US" altLang="ja-JP" sz="2800" dirty="0"/>
          </a:p>
          <a:p>
            <a:pPr lvl="0" defTabSz="914400" eaLnBrk="0" fontAlgn="base" hangingPunct="0">
              <a:spcAft>
                <a:spcPts val="600"/>
              </a:spcAft>
            </a:pPr>
            <a:r>
              <a:rPr lang="en-US" altLang="ja-JP" sz="2800" dirty="0"/>
              <a:t>	</a:t>
            </a:r>
            <a:r>
              <a:rPr lang="ja-JP" altLang="en-US" sz="2800" dirty="0"/>
              <a:t>・</a:t>
            </a:r>
            <a:r>
              <a:rPr lang="en-US" altLang="ja-JP" sz="2800" dirty="0"/>
              <a:t>【Application】</a:t>
            </a:r>
            <a:r>
              <a:rPr lang="ja-JP" altLang="en-US" sz="2800" dirty="0"/>
              <a:t>コーディング</a:t>
            </a:r>
            <a:endParaRPr lang="ja-JP" altLang="ja-JP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70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11E1-7A5C-F14C-8354-D44451D1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219CC3A-D341-28BF-8492-4A6BC24AB6EB}"/>
              </a:ext>
            </a:extLst>
          </p:cNvPr>
          <p:cNvSpPr txBox="1"/>
          <p:nvPr/>
        </p:nvSpPr>
        <p:spPr>
          <a:xfrm>
            <a:off x="1218177" y="630780"/>
            <a:ext cx="100559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Kanban Board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によるタスク管理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4A6031-6B90-403E-8A31-4B36B2870703}"/>
              </a:ext>
            </a:extLst>
          </p:cNvPr>
          <p:cNvSpPr txBox="1"/>
          <p:nvPr/>
        </p:nvSpPr>
        <p:spPr>
          <a:xfrm>
            <a:off x="406885" y="1874728"/>
            <a:ext cx="11378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ja-JP" sz="2800" dirty="0"/>
              <a:t>&lt;Kanban Board</a:t>
            </a:r>
            <a:r>
              <a:rPr lang="ja-JP" altLang="en-US" sz="2800" dirty="0"/>
              <a:t>画面</a:t>
            </a:r>
            <a:r>
              <a:rPr lang="en-US" altLang="ja-JP" sz="2800" dirty="0"/>
              <a:t>&gt;</a:t>
            </a:r>
          </a:p>
          <a:p>
            <a:pPr lvl="0" defTabSz="914400" eaLnBrk="0" fontAlgn="base" hangingPunct="0">
              <a:spcAft>
                <a:spcPct val="0"/>
              </a:spcAft>
            </a:pPr>
            <a:endParaRPr lang="ja-JP" altLang="ja-JP" sz="2800" dirty="0">
              <a:latin typeface="Arial" panose="020B0604020202020204" pitchFamily="34" charset="0"/>
            </a:endParaRPr>
          </a:p>
        </p:txBody>
      </p:sp>
      <p:pic>
        <p:nvPicPr>
          <p:cNvPr id="4" name="図 3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82E792F8-9306-CED9-EC39-0474C55EF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103" y="2438400"/>
            <a:ext cx="7038319" cy="374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24727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188</TotalTime>
  <Words>262</Words>
  <Application>Microsoft Office PowerPoint</Application>
  <PresentationFormat>ワイド画面</PresentationFormat>
  <Paragraphs>27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HGP創英角ﾎﾟｯﾌﾟ体</vt:lpstr>
      <vt:lpstr>ＭＳ ゴシック</vt:lpstr>
      <vt:lpstr>Arial</vt:lpstr>
      <vt:lpstr>Calibri</vt:lpstr>
      <vt:lpstr>Calibri Light</vt:lpstr>
      <vt:lpstr>レトロスペクト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g2442102/渡邉 諒</dc:creator>
  <cp:lastModifiedBy>g2442102/渡邉 諒</cp:lastModifiedBy>
  <cp:revision>17</cp:revision>
  <dcterms:created xsi:type="dcterms:W3CDTF">2025-12-19T01:33:25Z</dcterms:created>
  <dcterms:modified xsi:type="dcterms:W3CDTF">2026-01-05T09:10:13Z</dcterms:modified>
</cp:coreProperties>
</file>