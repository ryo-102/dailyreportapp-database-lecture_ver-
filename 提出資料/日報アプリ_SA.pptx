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9" r:id="rId4"/>
    <p:sldId id="265" r:id="rId5"/>
    <p:sldId id="258" r:id="rId6"/>
    <p:sldId id="267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794E-DFDF-411D-BABB-3ADDCA9ED3AD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696E-A14C-4A9B-8C6D-4F83F4C504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58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2272966" y="2271935"/>
            <a:ext cx="7646067" cy="1993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54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システムアーキテクト</a:t>
            </a:r>
            <a:endParaRPr kumimoji="1" lang="en-US" altLang="ja-JP" sz="54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algn="ctr">
              <a:lnSpc>
                <a:spcPct val="150000"/>
              </a:lnSpc>
            </a:pPr>
            <a:r>
              <a:rPr lang="en-US" altLang="ja-JP" sz="3200" dirty="0"/>
              <a:t>Docker/Django</a:t>
            </a:r>
            <a:r>
              <a:rPr lang="ja-JP" altLang="en-US" sz="3200" dirty="0"/>
              <a:t>を用いた</a:t>
            </a:r>
            <a:r>
              <a:rPr lang="en-US" altLang="ja-JP" sz="3200" dirty="0"/>
              <a:t>Web3</a:t>
            </a:r>
            <a:r>
              <a:rPr lang="ja-JP" altLang="en-US" sz="3200" dirty="0"/>
              <a:t>層構造の実装</a:t>
            </a:r>
            <a:endParaRPr kumimoji="1" lang="ja-JP" altLang="en-US" sz="3200" b="1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65083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DF0D4F-5C7A-0C73-FF31-23122D0E3251}"/>
              </a:ext>
            </a:extLst>
          </p:cNvPr>
          <p:cNvSpPr txBox="1"/>
          <p:nvPr/>
        </p:nvSpPr>
        <p:spPr>
          <a:xfrm>
            <a:off x="1202135" y="676763"/>
            <a:ext cx="9155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アーキテクチャ設計の基本戦略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57DC8-50D6-A289-BEB4-4A097DB1EF3D}"/>
              </a:ext>
            </a:extLst>
          </p:cNvPr>
          <p:cNvSpPr txBox="1"/>
          <p:nvPr/>
        </p:nvSpPr>
        <p:spPr>
          <a:xfrm>
            <a:off x="406885" y="2103328"/>
            <a:ext cx="113782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環境の再現性</a:t>
            </a:r>
            <a:r>
              <a:rPr lang="en-US" altLang="ja-JP" sz="2800" dirty="0"/>
              <a:t>: Docker</a:t>
            </a:r>
            <a:r>
              <a:rPr lang="ja-JP" altLang="en-US" sz="2800" dirty="0"/>
              <a:t>により、「コード・ライブラリ・</a:t>
            </a:r>
            <a:r>
              <a:rPr lang="en-US" altLang="ja-JP" sz="2800" dirty="0"/>
              <a:t>DB</a:t>
            </a:r>
            <a:r>
              <a:rPr lang="ja-JP" altLang="en-US" sz="2800" dirty="0"/>
              <a:t>」をコンテナ化。どの</a:t>
            </a:r>
            <a:r>
              <a:rPr lang="en-US" altLang="ja-JP" sz="2800" dirty="0"/>
              <a:t>PC</a:t>
            </a:r>
            <a:r>
              <a:rPr lang="ja-JP" altLang="en-US" sz="2800" dirty="0"/>
              <a:t>でも簡単なコマンドで同一の開発環境を再現可能にしました。</a:t>
            </a:r>
            <a:endParaRPr lang="en-US" altLang="ja-JP" sz="2800" dirty="0"/>
          </a:p>
          <a:p>
            <a:pPr>
              <a:spcAft>
                <a:spcPts val="1800"/>
              </a:spcAft>
            </a:pPr>
            <a:r>
              <a:rPr lang="ja-JP" altLang="en-US" sz="2800" dirty="0"/>
              <a:t>堅牢なデータ管理</a:t>
            </a:r>
            <a:r>
              <a:rPr lang="en-US" altLang="ja-JP" sz="2800" dirty="0"/>
              <a:t>: RDBMS</a:t>
            </a:r>
            <a:r>
              <a:rPr lang="ja-JP" altLang="en-US" sz="2800" dirty="0"/>
              <a:t>として</a:t>
            </a:r>
            <a:r>
              <a:rPr lang="en-US" altLang="ja-JP" sz="2800" dirty="0"/>
              <a:t>PostgreSQL 15</a:t>
            </a:r>
            <a:r>
              <a:rPr lang="ja-JP" altLang="en-US" sz="2800" dirty="0"/>
              <a:t>を採用。</a:t>
            </a:r>
            <a:r>
              <a:rPr lang="en-US" altLang="ja-JP" sz="2800" dirty="0"/>
              <a:t>ACID</a:t>
            </a:r>
            <a:r>
              <a:rPr lang="ja-JP" altLang="en-US" sz="2800" dirty="0"/>
              <a:t>特性（原子性・一貫性）を重視し、業務データの整合性を保護しました。</a:t>
            </a:r>
            <a:endParaRPr lang="en-US" altLang="ja-JP" sz="2800" dirty="0"/>
          </a:p>
          <a:p>
            <a:pPr>
              <a:spcAft>
                <a:spcPts val="1800"/>
              </a:spcAft>
            </a:pPr>
            <a:r>
              <a:rPr lang="ja-JP" altLang="en-US" sz="2800" dirty="0"/>
              <a:t>セキュアなアクセス</a:t>
            </a:r>
            <a:r>
              <a:rPr lang="en-US" altLang="ja-JP" sz="2800" dirty="0"/>
              <a:t>: </a:t>
            </a:r>
            <a:r>
              <a:rPr lang="en-US" altLang="ja-JP" sz="2800" dirty="0" err="1"/>
              <a:t>ngrok</a:t>
            </a:r>
            <a:r>
              <a:rPr lang="ja-JP" altLang="en-US" sz="2800" dirty="0"/>
              <a:t>を用いたトンネリングにより、</a:t>
            </a:r>
            <a:r>
              <a:rPr lang="en-US" altLang="ja-JP" sz="2800" dirty="0"/>
              <a:t>HTTPS</a:t>
            </a:r>
            <a:r>
              <a:rPr lang="ja-JP" altLang="en-US" sz="2800" dirty="0"/>
              <a:t>による暗号化通信を実現しました。外部からの安全なアクセス経路を確保しています。</a:t>
            </a:r>
            <a:endParaRPr lang="ja-JP" altLang="ja-JP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202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202135" y="676763"/>
            <a:ext cx="3833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技術スタック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874728"/>
            <a:ext cx="1137823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開発言語・フレームワーク</a:t>
            </a:r>
            <a:r>
              <a:rPr lang="en-US" altLang="ja-JP" sz="2800" b="1" dirty="0"/>
              <a:t>:</a:t>
            </a:r>
            <a:endParaRPr lang="ja-JP" altLang="en-US" sz="2800" dirty="0"/>
          </a:p>
          <a:p>
            <a:pPr lvl="1"/>
            <a:r>
              <a:rPr lang="en-US" altLang="ja-JP" sz="2800" b="1" dirty="0"/>
              <a:t>Python 3.11 / Django 5.0:</a:t>
            </a:r>
            <a:r>
              <a:rPr lang="ja-JP" altLang="en-US" sz="2800" dirty="0"/>
              <a:t> 迅速な開発が可能な</a:t>
            </a:r>
            <a:r>
              <a:rPr lang="en-US" altLang="ja-JP" sz="2800" dirty="0"/>
              <a:t>MVT</a:t>
            </a:r>
            <a:r>
              <a:rPr lang="ja-JP" altLang="en-US" sz="2800" dirty="0"/>
              <a:t>モデルを採用し、強力な</a:t>
            </a:r>
            <a:r>
              <a:rPr lang="en-US" altLang="ja-JP" sz="2800" dirty="0"/>
              <a:t>ORM</a:t>
            </a:r>
            <a:r>
              <a:rPr lang="ja-JP" altLang="en-US" sz="2800" dirty="0"/>
              <a:t>と管理画面機能を活用しました。</a:t>
            </a:r>
          </a:p>
          <a:p>
            <a:pPr>
              <a:spcBef>
                <a:spcPts val="1200"/>
              </a:spcBef>
            </a:pPr>
            <a:r>
              <a:rPr lang="ja-JP" altLang="en-US" sz="2800" b="1" dirty="0"/>
              <a:t>データベース</a:t>
            </a:r>
            <a:r>
              <a:rPr lang="en-US" altLang="ja-JP" sz="2800" b="1" dirty="0"/>
              <a:t>:</a:t>
            </a:r>
            <a:endParaRPr lang="ja-JP" altLang="en-US" sz="2800" dirty="0"/>
          </a:p>
          <a:p>
            <a:pPr lvl="1"/>
            <a:r>
              <a:rPr lang="en-US" altLang="ja-JP" sz="2800" b="1" dirty="0"/>
              <a:t>PostgreSQL 15:</a:t>
            </a:r>
            <a:r>
              <a:rPr lang="ja-JP" altLang="en-US" sz="2800" dirty="0"/>
              <a:t> 複雑なクエリやトランザクション処理に強く、信頼性が高いリレーショナルデータベースです。</a:t>
            </a:r>
          </a:p>
          <a:p>
            <a:pPr>
              <a:spcBef>
                <a:spcPts val="1200"/>
              </a:spcBef>
            </a:pPr>
            <a:r>
              <a:rPr lang="ja-JP" altLang="en-US" sz="2800" b="1" dirty="0"/>
              <a:t>インフラ・フロントエンド</a:t>
            </a:r>
            <a:r>
              <a:rPr lang="en-US" altLang="ja-JP" sz="2800" b="1" dirty="0"/>
              <a:t>:</a:t>
            </a:r>
            <a:endParaRPr lang="ja-JP" altLang="en-US" sz="2800" dirty="0"/>
          </a:p>
          <a:p>
            <a:pPr lvl="1"/>
            <a:r>
              <a:rPr lang="en-US" altLang="ja-JP" sz="2800" b="1" dirty="0"/>
              <a:t>Docker:</a:t>
            </a:r>
            <a:r>
              <a:rPr lang="ja-JP" altLang="en-US" sz="2800" dirty="0"/>
              <a:t> 開発環境と本番環境の差異を極小化できます。</a:t>
            </a:r>
          </a:p>
          <a:p>
            <a:pPr lvl="1"/>
            <a:r>
              <a:rPr lang="en-US" altLang="ja-JP" sz="2800" b="1" dirty="0"/>
              <a:t>HTML5/CSS3:</a:t>
            </a:r>
            <a:r>
              <a:rPr lang="ja-JP" altLang="en-US" sz="2800" dirty="0"/>
              <a:t> レスポンシブ対応により、</a:t>
            </a:r>
            <a:r>
              <a:rPr lang="en-US" altLang="ja-JP" sz="2800" dirty="0"/>
              <a:t>PC</a:t>
            </a:r>
            <a:r>
              <a:rPr lang="ja-JP" altLang="en-US" sz="2800" dirty="0"/>
              <a:t>・スマホ双方での利用を想定。</a:t>
            </a: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B0AE-8D13-7208-9A63-21C1B10F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232601D-4B70-0C00-402A-4EF2C9DA5E13}"/>
              </a:ext>
            </a:extLst>
          </p:cNvPr>
          <p:cNvSpPr/>
          <p:nvPr/>
        </p:nvSpPr>
        <p:spPr>
          <a:xfrm>
            <a:off x="0" y="6307586"/>
            <a:ext cx="12192000" cy="55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665DF7-F6E8-80A2-6BF2-F411EE049DF2}"/>
              </a:ext>
            </a:extLst>
          </p:cNvPr>
          <p:cNvSpPr/>
          <p:nvPr/>
        </p:nvSpPr>
        <p:spPr>
          <a:xfrm>
            <a:off x="899160" y="1600093"/>
            <a:ext cx="10439400" cy="238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819A42DC-79C4-94A8-0EFB-45FFFFB53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26" y="108653"/>
            <a:ext cx="8420547" cy="66406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1EFB81-71E4-546E-FE95-EAA7DA5FF544}"/>
              </a:ext>
            </a:extLst>
          </p:cNvPr>
          <p:cNvSpPr txBox="1"/>
          <p:nvPr/>
        </p:nvSpPr>
        <p:spPr>
          <a:xfrm>
            <a:off x="7151070" y="133369"/>
            <a:ext cx="32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+mn-ea"/>
              </a:rPr>
              <a:t>&lt;</a:t>
            </a:r>
            <a:r>
              <a:rPr lang="ja-JP" altLang="en-US" sz="2400" b="1" dirty="0">
                <a:latin typeface="+mn-ea"/>
              </a:rPr>
              <a:t>システム全体構成図</a:t>
            </a:r>
            <a:r>
              <a:rPr lang="en-US" altLang="ja-JP" sz="2400" b="1" dirty="0">
                <a:latin typeface="+mn-ea"/>
              </a:rPr>
              <a:t>&gt;</a:t>
            </a:r>
            <a:endParaRPr lang="ja-JP" altLang="en-US" sz="2400" b="1" dirty="0">
              <a:latin typeface="+mn-ea"/>
            </a:endParaRPr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37F6DD21-8A88-9204-D3DA-4B76A15EED3F}"/>
              </a:ext>
            </a:extLst>
          </p:cNvPr>
          <p:cNvSpPr/>
          <p:nvPr/>
        </p:nvSpPr>
        <p:spPr>
          <a:xfrm>
            <a:off x="10215447" y="4871948"/>
            <a:ext cx="1831605" cy="1287817"/>
          </a:xfrm>
          <a:prstGeom prst="wedgeRoundRectCallout">
            <a:avLst>
              <a:gd name="adj1" fmla="val -59940"/>
              <a:gd name="adj2" fmla="val 2049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b="1" dirty="0"/>
              <a:t>データ永続化</a:t>
            </a:r>
            <a:r>
              <a:rPr lang="en-US" altLang="ja-JP" sz="1200" b="1" dirty="0"/>
              <a:t>: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r>
              <a:rPr lang="en-US" altLang="ja-JP" sz="1200" dirty="0"/>
              <a:t>Docker Volumes</a:t>
            </a:r>
            <a:r>
              <a:rPr lang="ja-JP" altLang="en-US" sz="1200" dirty="0"/>
              <a:t>を使用し、コンテナを再起動してもデータが消えない構成を構築。</a:t>
            </a:r>
            <a:endParaRPr kumimoji="1" lang="ja-JP" altLang="en-US" sz="1200" dirty="0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D27D2171-5E7D-AC15-B953-D02A911BF994}"/>
              </a:ext>
            </a:extLst>
          </p:cNvPr>
          <p:cNvSpPr/>
          <p:nvPr/>
        </p:nvSpPr>
        <p:spPr>
          <a:xfrm>
            <a:off x="10401300" y="875405"/>
            <a:ext cx="1526016" cy="1926752"/>
          </a:xfrm>
          <a:prstGeom prst="wedgeRoundRectCallout">
            <a:avLst>
              <a:gd name="adj1" fmla="val -68359"/>
              <a:gd name="adj2" fmla="val -2032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b="1" dirty="0"/>
              <a:t>Web3</a:t>
            </a:r>
            <a:r>
              <a:rPr lang="ja-JP" altLang="en-US" sz="1200" b="1" dirty="0"/>
              <a:t>層構造</a:t>
            </a:r>
            <a:r>
              <a:rPr lang="en-US" altLang="ja-JP" sz="1200" b="1" dirty="0"/>
              <a:t>: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r>
              <a:rPr lang="ja-JP" altLang="en-US" sz="1200" dirty="0"/>
              <a:t>「</a:t>
            </a:r>
            <a:r>
              <a:rPr lang="en-US" altLang="ja-JP" sz="1200" dirty="0"/>
              <a:t>Web</a:t>
            </a:r>
            <a:r>
              <a:rPr lang="ja-JP" altLang="en-US" sz="1200" dirty="0"/>
              <a:t>サーバー</a:t>
            </a:r>
            <a:r>
              <a:rPr lang="en-US" altLang="ja-JP" sz="1200" dirty="0"/>
              <a:t>/</a:t>
            </a:r>
            <a:r>
              <a:rPr lang="ja-JP" altLang="en-US" sz="1200" dirty="0"/>
              <a:t>アプリ</a:t>
            </a:r>
            <a:r>
              <a:rPr lang="en-US" altLang="ja-JP" sz="1200" dirty="0"/>
              <a:t>(Django)</a:t>
            </a:r>
            <a:r>
              <a:rPr lang="ja-JP" altLang="en-US" sz="1200" dirty="0"/>
              <a:t>」「</a:t>
            </a:r>
            <a:r>
              <a:rPr lang="en-US" altLang="ja-JP" sz="1200" dirty="0"/>
              <a:t>DB</a:t>
            </a:r>
            <a:r>
              <a:rPr lang="ja-JP" altLang="en-US" sz="1200" dirty="0"/>
              <a:t>サーバー</a:t>
            </a:r>
            <a:r>
              <a:rPr lang="en-US" altLang="ja-JP" sz="1200" dirty="0"/>
              <a:t>(PostgreSQL)</a:t>
            </a:r>
            <a:r>
              <a:rPr lang="ja-JP" altLang="en-US" sz="1200" dirty="0"/>
              <a:t>」を分離・連携。</a:t>
            </a:r>
            <a:endParaRPr kumimoji="1" lang="ja-JP" altLang="en-US" sz="1200" dirty="0"/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1B549A45-F381-4831-2E00-10EA262473CD}"/>
              </a:ext>
            </a:extLst>
          </p:cNvPr>
          <p:cNvSpPr/>
          <p:nvPr/>
        </p:nvSpPr>
        <p:spPr>
          <a:xfrm>
            <a:off x="2103120" y="1280159"/>
            <a:ext cx="1607820" cy="1668781"/>
          </a:xfrm>
          <a:prstGeom prst="wedgeRoundRectCallout">
            <a:avLst>
              <a:gd name="adj1" fmla="val 62973"/>
              <a:gd name="adj2" fmla="val 2037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b="1" dirty="0"/>
              <a:t>外部公開</a:t>
            </a:r>
            <a:r>
              <a:rPr lang="en-US" altLang="ja-JP" sz="1200" b="1" dirty="0"/>
              <a:t>:</a:t>
            </a:r>
          </a:p>
          <a:p>
            <a:r>
              <a:rPr lang="ja-JP" altLang="en-US" sz="1200" dirty="0"/>
              <a:t>ホスト環境の</a:t>
            </a:r>
            <a:r>
              <a:rPr lang="en-US" altLang="ja-JP" sz="1200" dirty="0" err="1"/>
              <a:t>ngrok</a:t>
            </a:r>
            <a:r>
              <a:rPr lang="ja-JP" altLang="en-US" sz="1200" dirty="0"/>
              <a:t>を経由し、インターネット側からのリクエストを</a:t>
            </a:r>
            <a:r>
              <a:rPr lang="en-US" altLang="ja-JP" sz="1200" dirty="0"/>
              <a:t>Docker</a:t>
            </a:r>
            <a:r>
              <a:rPr lang="ja-JP" altLang="en-US" sz="1200" dirty="0"/>
              <a:t>コンテナ内のポート</a:t>
            </a:r>
            <a:r>
              <a:rPr lang="en-US" altLang="ja-JP" sz="1200" dirty="0"/>
              <a:t>8000</a:t>
            </a:r>
            <a:r>
              <a:rPr lang="ja-JP" altLang="en-US" sz="1200" dirty="0"/>
              <a:t>へ転送。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839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9363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アプリケーション機能のポイント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18871F-DAA0-B20E-06D8-2175E54E9615}"/>
              </a:ext>
            </a:extLst>
          </p:cNvPr>
          <p:cNvSpPr txBox="1"/>
          <p:nvPr/>
        </p:nvSpPr>
        <p:spPr>
          <a:xfrm>
            <a:off x="406885" y="1874728"/>
            <a:ext cx="113782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/>
            <a:r>
              <a:rPr lang="ja-JP" altLang="en-US" sz="2800" b="1" dirty="0"/>
              <a:t>認証・権限管理</a:t>
            </a:r>
            <a:r>
              <a:rPr lang="en-US" altLang="ja-JP" sz="2800" b="1" dirty="0"/>
              <a:t>: </a:t>
            </a:r>
          </a:p>
          <a:p>
            <a:pPr lvl="1" defTabSz="914400" eaLnBrk="0" fontAlgn="base" hangingPunct="0">
              <a:spcAft>
                <a:spcPts val="2400"/>
              </a:spcAft>
            </a:pPr>
            <a:r>
              <a:rPr lang="en-US" altLang="ja-JP" sz="2800" dirty="0"/>
              <a:t>Django</a:t>
            </a:r>
            <a:r>
              <a:rPr lang="ja-JP" altLang="en-US" sz="2800" dirty="0"/>
              <a:t>標準の認証システムを拡張し、安全なログイン管理を実現。</a:t>
            </a:r>
            <a:endParaRPr lang="en-US" altLang="ja-JP" sz="2800" dirty="0"/>
          </a:p>
          <a:p>
            <a:pPr lvl="0" defTabSz="914400" eaLnBrk="0" fontAlgn="base" hangingPunct="0"/>
            <a:r>
              <a:rPr lang="ja-JP" altLang="en-US" sz="2800" b="1" dirty="0"/>
              <a:t>日報管理</a:t>
            </a:r>
            <a:r>
              <a:rPr lang="en-US" altLang="ja-JP" sz="2800" b="1" dirty="0"/>
              <a:t>:</a:t>
            </a:r>
            <a:r>
              <a:rPr lang="ja-JP" altLang="en-US" sz="2800" dirty="0"/>
              <a:t> </a:t>
            </a:r>
            <a:endParaRPr lang="en-US" altLang="ja-JP" sz="2800" dirty="0"/>
          </a:p>
          <a:p>
            <a:pPr lvl="1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日報の作成・編集・削除機能に加え、画像アップロード機能も実装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84BA-8259-8102-C67B-51AA184C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D3FB28-7043-D537-1CB4-94D035BD336F}"/>
              </a:ext>
            </a:extLst>
          </p:cNvPr>
          <p:cNvSpPr txBox="1"/>
          <p:nvPr/>
        </p:nvSpPr>
        <p:spPr>
          <a:xfrm>
            <a:off x="1218177" y="630780"/>
            <a:ext cx="9363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アプリケーション機能のポイント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FD2C1D-4997-ECA5-3150-730C0510519D}"/>
              </a:ext>
            </a:extLst>
          </p:cNvPr>
          <p:cNvSpPr txBox="1"/>
          <p:nvPr/>
        </p:nvSpPr>
        <p:spPr>
          <a:xfrm>
            <a:off x="406885" y="1874728"/>
            <a:ext cx="113782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集計・分析ロジック</a:t>
            </a:r>
            <a:r>
              <a:rPr lang="en-US" altLang="ja-JP" sz="2800" b="1" dirty="0"/>
              <a:t>:</a:t>
            </a:r>
            <a:endParaRPr lang="ja-JP" altLang="en-US" sz="2800" dirty="0"/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・</a:t>
            </a:r>
            <a:r>
              <a:rPr lang="en-US" altLang="ja-JP" sz="2800" dirty="0"/>
              <a:t>SOS</a:t>
            </a:r>
            <a:r>
              <a:rPr lang="ja-JP" altLang="en-US" sz="2800" dirty="0"/>
              <a:t>アラート</a:t>
            </a:r>
            <a:r>
              <a:rPr lang="en-US" altLang="ja-JP" sz="2800" dirty="0"/>
              <a:t>:</a:t>
            </a:r>
            <a:r>
              <a:rPr lang="ja-JP" altLang="en-US" sz="2800" dirty="0"/>
              <a:t> 「調子」ステータスを監視し、不調なメンバーを抽出します。</a:t>
            </a:r>
          </a:p>
          <a:p>
            <a:pPr lvl="1">
              <a:spcAft>
                <a:spcPts val="2400"/>
              </a:spcAft>
            </a:pPr>
            <a:r>
              <a:rPr lang="ja-JP" altLang="en-US" sz="2800" dirty="0"/>
              <a:t>・ランキング</a:t>
            </a:r>
            <a:r>
              <a:rPr lang="en-US" altLang="ja-JP" sz="2800" dirty="0"/>
              <a:t>:</a:t>
            </a:r>
            <a:r>
              <a:rPr lang="ja-JP" altLang="en-US" sz="2800" dirty="0"/>
              <a:t> 投稿数などを集計し、活動量を可視化できます。</a:t>
            </a:r>
            <a:endParaRPr lang="en-US" altLang="ja-JP" sz="2800" b="1" dirty="0"/>
          </a:p>
          <a:p>
            <a:r>
              <a:rPr lang="ja-JP" altLang="en-US" sz="2800" b="1" dirty="0"/>
              <a:t>検索・フィルタリング</a:t>
            </a:r>
            <a:r>
              <a:rPr lang="en-US" altLang="ja-JP" sz="2800" b="1" dirty="0"/>
              <a:t>:</a:t>
            </a:r>
            <a:endParaRPr lang="ja-JP" altLang="en-US" sz="2800" dirty="0"/>
          </a:p>
          <a:p>
            <a:pPr lvl="1"/>
            <a:r>
              <a:rPr lang="en-US" altLang="ja-JP" sz="2800" dirty="0"/>
              <a:t>Q</a:t>
            </a:r>
            <a:r>
              <a:rPr lang="ja-JP" altLang="en-US" sz="2800" dirty="0"/>
              <a:t>オブジェクト（</a:t>
            </a:r>
            <a:r>
              <a:rPr lang="en-US" altLang="ja-JP" sz="2800" dirty="0"/>
              <a:t>Django</a:t>
            </a:r>
            <a:r>
              <a:rPr lang="ja-JP" altLang="en-US" sz="2800" dirty="0"/>
              <a:t>のクエリビルダ）を用いて、キーワード検索とカテゴリー絞り込みを組み合わせた</a:t>
            </a:r>
            <a:r>
              <a:rPr lang="en-US" altLang="ja-JP" sz="2800" dirty="0"/>
              <a:t>AND/OR</a:t>
            </a:r>
            <a:r>
              <a:rPr lang="ja-JP" altLang="en-US" sz="2800" dirty="0"/>
              <a:t>検索を実装しました。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08986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11E1-7A5C-F14C-8354-D44451D1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19CC3A-D341-28BF-8492-4A6BC24AB6EB}"/>
              </a:ext>
            </a:extLst>
          </p:cNvPr>
          <p:cNvSpPr txBox="1"/>
          <p:nvPr/>
        </p:nvSpPr>
        <p:spPr>
          <a:xfrm>
            <a:off x="1218177" y="630780"/>
            <a:ext cx="61446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設計と運用・保守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64210B-6796-BB53-78FE-755C2399334A}"/>
              </a:ext>
            </a:extLst>
          </p:cNvPr>
          <p:cNvSpPr txBox="1"/>
          <p:nvPr/>
        </p:nvSpPr>
        <p:spPr>
          <a:xfrm>
            <a:off x="406885" y="1874728"/>
            <a:ext cx="1137823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データアクセス層 </a:t>
            </a:r>
            <a:r>
              <a:rPr lang="en-US" altLang="ja-JP" sz="2800" b="1" dirty="0"/>
              <a:t>(ORM):</a:t>
            </a:r>
            <a:endParaRPr lang="ja-JP" altLang="en-US" sz="2800" dirty="0"/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・</a:t>
            </a:r>
            <a:r>
              <a:rPr lang="en-US" altLang="ja-JP" sz="2800" dirty="0"/>
              <a:t>SQL</a:t>
            </a:r>
            <a:r>
              <a:rPr lang="ja-JP" altLang="en-US" sz="2800" dirty="0"/>
              <a:t>を直接記述せず、</a:t>
            </a:r>
            <a:r>
              <a:rPr lang="en-US" altLang="ja-JP" sz="2800" dirty="0"/>
              <a:t>Django ORM</a:t>
            </a:r>
            <a:r>
              <a:rPr lang="ja-JP" altLang="en-US" sz="2800" dirty="0"/>
              <a:t>を介して</a:t>
            </a:r>
            <a:r>
              <a:rPr lang="en-US" altLang="ja-JP" sz="2800" dirty="0"/>
              <a:t>DB</a:t>
            </a:r>
            <a:r>
              <a:rPr lang="ja-JP" altLang="en-US" sz="2800" dirty="0"/>
              <a:t>操作を行うことで、</a:t>
            </a:r>
            <a:r>
              <a:rPr lang="en-US" altLang="ja-JP" sz="2800" dirty="0"/>
              <a:t>SQL</a:t>
            </a:r>
            <a:r>
              <a:rPr lang="ja-JP" altLang="en-US" sz="2800" dirty="0"/>
              <a:t>インジェクション等の脆弱性を排除。</a:t>
            </a:r>
          </a:p>
          <a:p>
            <a:pPr lvl="1">
              <a:spcAft>
                <a:spcPts val="1800"/>
              </a:spcAft>
            </a:pPr>
            <a:r>
              <a:rPr lang="ja-JP" altLang="en-US" sz="2800" b="1" dirty="0"/>
              <a:t>・</a:t>
            </a:r>
            <a:r>
              <a:rPr lang="en-US" altLang="ja-JP" sz="2800" b="1" dirty="0"/>
              <a:t>N+1</a:t>
            </a:r>
            <a:r>
              <a:rPr lang="ja-JP" altLang="en-US" sz="2800" b="1" dirty="0"/>
              <a:t>問題対策</a:t>
            </a:r>
            <a:r>
              <a:rPr lang="en-US" altLang="ja-JP" sz="2800" b="1" dirty="0">
                <a:latin typeface="+mn-ea"/>
              </a:rPr>
              <a:t>:</a:t>
            </a:r>
            <a:r>
              <a:rPr lang="ja-JP" altLang="en-US" sz="2800" dirty="0">
                <a:latin typeface="+mn-ea"/>
              </a:rPr>
              <a:t> </a:t>
            </a:r>
            <a:r>
              <a:rPr lang="en-US" altLang="ja-JP" sz="2800" dirty="0" err="1">
                <a:latin typeface="+mn-ea"/>
              </a:rPr>
              <a:t>select_related</a:t>
            </a:r>
            <a:r>
              <a:rPr lang="ja-JP" altLang="en-US" sz="2800" dirty="0">
                <a:latin typeface="+mn-ea"/>
              </a:rPr>
              <a:t> </a:t>
            </a:r>
            <a:r>
              <a:rPr lang="en-US" altLang="ja-JP" sz="2800" dirty="0">
                <a:latin typeface="+mn-ea"/>
              </a:rPr>
              <a:t>/ </a:t>
            </a:r>
            <a:r>
              <a:rPr lang="en-US" altLang="ja-JP" sz="2800" dirty="0" err="1">
                <a:latin typeface="+mn-ea"/>
              </a:rPr>
              <a:t>prefetch_related</a:t>
            </a:r>
            <a:r>
              <a:rPr lang="ja-JP" altLang="en-US" sz="2800" dirty="0">
                <a:latin typeface="+mn-ea"/>
              </a:rPr>
              <a:t> </a:t>
            </a:r>
            <a:r>
              <a:rPr lang="ja-JP" altLang="en-US" sz="2800" dirty="0"/>
              <a:t>を使用し、クエリ発行回数を最適化してパフォーマンスを向上。</a:t>
            </a:r>
            <a:endParaRPr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319832472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474</Words>
  <Application>Microsoft Office PowerPoint</Application>
  <PresentationFormat>ワイド画面</PresentationFormat>
  <Paragraphs>38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HGP創英角ﾎﾟｯﾌﾟ体</vt:lpstr>
      <vt:lpstr>ＭＳ ゴシック</vt:lpstr>
      <vt:lpstr>游ゴシック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g2442102/渡邉 諒</cp:lastModifiedBy>
  <cp:revision>25</cp:revision>
  <dcterms:created xsi:type="dcterms:W3CDTF">2025-12-19T01:33:25Z</dcterms:created>
  <dcterms:modified xsi:type="dcterms:W3CDTF">2026-01-05T09:28:59Z</dcterms:modified>
</cp:coreProperties>
</file>