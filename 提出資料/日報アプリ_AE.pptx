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9" r:id="rId3"/>
    <p:sldId id="268" r:id="rId4"/>
    <p:sldId id="258" r:id="rId5"/>
    <p:sldId id="269" r:id="rId6"/>
    <p:sldId id="267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65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11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E794E-DFDF-411D-BABB-3ADDCA9ED3AD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6696E-A14C-4A9B-8C6D-4F83F4C504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3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6696E-A14C-4A9B-8C6D-4F83F4C5040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083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A3ADE-1423-0CF9-C4FF-B8BB4F5A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96B660D-658B-524C-2D81-1AF52B205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D4BB75F-9F8C-4B0B-8F78-025164264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9D9EE8-5FFA-CB33-2B3E-A6D6FAD06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6696E-A14C-4A9B-8C6D-4F83F4C5040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8966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6696E-A14C-4A9B-8C6D-4F83F4C5040E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586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07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5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90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6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10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49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19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88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2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56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41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D270DE-BF57-EAAA-9B62-3935430BA877}"/>
              </a:ext>
            </a:extLst>
          </p:cNvPr>
          <p:cNvSpPr txBox="1"/>
          <p:nvPr/>
        </p:nvSpPr>
        <p:spPr>
          <a:xfrm>
            <a:off x="2085127" y="2856952"/>
            <a:ext cx="8021748" cy="11440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54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アプリケーションエンジニア</a:t>
            </a:r>
            <a:endParaRPr kumimoji="1" lang="en-US" altLang="ja-JP" sz="54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504F19-AB7E-AD73-461D-CC4095005594}"/>
              </a:ext>
            </a:extLst>
          </p:cNvPr>
          <p:cNvSpPr txBox="1"/>
          <p:nvPr/>
        </p:nvSpPr>
        <p:spPr>
          <a:xfrm>
            <a:off x="128337" y="5650832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チームメンバー：渡邉諒 </a:t>
            </a:r>
            <a:r>
              <a:rPr kumimoji="1"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(2442102)</a:t>
            </a:r>
            <a:r>
              <a:rPr kumimoji="1"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・田中誠真 </a:t>
            </a:r>
            <a:r>
              <a:rPr kumimoji="1"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(2442054)</a:t>
            </a:r>
            <a:endParaRPr kumimoji="1" lang="ja-JP" alt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582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364D-54C9-D6F6-0CF0-C9E77891A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CAEC88-5000-E7CD-6B22-C14B4637B13E}"/>
              </a:ext>
            </a:extLst>
          </p:cNvPr>
          <p:cNvSpPr txBox="1"/>
          <p:nvPr/>
        </p:nvSpPr>
        <p:spPr>
          <a:xfrm>
            <a:off x="1202135" y="676763"/>
            <a:ext cx="49503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MVT</a:t>
            </a:r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の構成要素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029BA2-DBDE-21A5-6175-5688B34FF5F0}"/>
              </a:ext>
            </a:extLst>
          </p:cNvPr>
          <p:cNvSpPr txBox="1"/>
          <p:nvPr/>
        </p:nvSpPr>
        <p:spPr>
          <a:xfrm>
            <a:off x="406885" y="1874728"/>
            <a:ext cx="1137823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latin typeface="+mj-ea"/>
                <a:ea typeface="+mj-ea"/>
              </a:rPr>
              <a:t>Model (</a:t>
            </a:r>
            <a:r>
              <a:rPr lang="ja-JP" altLang="en-US" sz="2800" dirty="0">
                <a:latin typeface="+mj-ea"/>
                <a:ea typeface="+mj-ea"/>
              </a:rPr>
              <a:t>モデル</a:t>
            </a:r>
            <a:r>
              <a:rPr lang="en-US" altLang="ja-JP" sz="2800" dirty="0">
                <a:latin typeface="+mj-ea"/>
                <a:ea typeface="+mj-ea"/>
              </a:rPr>
              <a:t>): </a:t>
            </a:r>
          </a:p>
          <a:p>
            <a:pPr lvl="1">
              <a:spcAft>
                <a:spcPts val="1200"/>
              </a:spcAft>
            </a:pPr>
            <a:r>
              <a:rPr lang="ja-JP" altLang="en-US" sz="2800" dirty="0">
                <a:latin typeface="+mj-ea"/>
                <a:ea typeface="+mj-ea"/>
              </a:rPr>
              <a:t>データ構造の定義とデータベース操作（</a:t>
            </a:r>
            <a:r>
              <a:rPr lang="en-US" altLang="ja-JP" sz="2800" dirty="0">
                <a:latin typeface="+mj-ea"/>
                <a:ea typeface="+mj-ea"/>
              </a:rPr>
              <a:t>ORM</a:t>
            </a:r>
            <a:r>
              <a:rPr lang="ja-JP" altLang="en-US" sz="2800" dirty="0">
                <a:latin typeface="+mj-ea"/>
                <a:ea typeface="+mj-ea"/>
              </a:rPr>
              <a:t>）。</a:t>
            </a:r>
            <a:endParaRPr lang="en-US" altLang="ja-JP" sz="2800" dirty="0">
              <a:latin typeface="+mj-ea"/>
              <a:ea typeface="+mj-ea"/>
            </a:endParaRPr>
          </a:p>
          <a:p>
            <a:r>
              <a:rPr lang="en-US" altLang="ja-JP" sz="2800" dirty="0"/>
              <a:t>View (</a:t>
            </a:r>
            <a:r>
              <a:rPr lang="ja-JP" altLang="en-US" sz="2800" dirty="0"/>
              <a:t>ビュー</a:t>
            </a:r>
            <a:r>
              <a:rPr lang="en-US" altLang="ja-JP" sz="2800" dirty="0"/>
              <a:t>): </a:t>
            </a:r>
          </a:p>
          <a:p>
            <a:pPr lvl="1">
              <a:spcAft>
                <a:spcPts val="1200"/>
              </a:spcAft>
            </a:pPr>
            <a:r>
              <a:rPr lang="ja-JP" altLang="en-US" sz="2800" dirty="0"/>
              <a:t>ユーザーからのリクエスト処理、データの取得・加工、</a:t>
            </a:r>
            <a:r>
              <a:rPr lang="en-US" altLang="ja-JP" sz="2800" dirty="0"/>
              <a:t>SOS</a:t>
            </a:r>
            <a:r>
              <a:rPr lang="ja-JP" altLang="en-US" sz="2800" dirty="0"/>
              <a:t>判定などのビジネスロジック。</a:t>
            </a:r>
            <a:endParaRPr lang="en-US" altLang="ja-JP" sz="2800" dirty="0"/>
          </a:p>
          <a:p>
            <a:r>
              <a:rPr lang="en-US" altLang="ja-JP" sz="2800" dirty="0"/>
              <a:t>Template (</a:t>
            </a:r>
            <a:r>
              <a:rPr lang="ja-JP" altLang="en-US" sz="2800" dirty="0"/>
              <a:t>テンプレート</a:t>
            </a:r>
            <a:r>
              <a:rPr lang="en-US" altLang="ja-JP" sz="2800" dirty="0"/>
              <a:t>): </a:t>
            </a:r>
          </a:p>
          <a:p>
            <a:pPr lvl="1">
              <a:spcAft>
                <a:spcPts val="1200"/>
              </a:spcAft>
            </a:pPr>
            <a:r>
              <a:rPr lang="ja-JP" altLang="en-US" sz="2800" dirty="0"/>
              <a:t>ユーザーへの画面表示（</a:t>
            </a:r>
            <a:r>
              <a:rPr lang="en-US" altLang="ja-JP" sz="2800" dirty="0"/>
              <a:t>HTML</a:t>
            </a:r>
            <a:r>
              <a:rPr lang="ja-JP" altLang="en-US" sz="2800" dirty="0"/>
              <a:t>生成）。</a:t>
            </a:r>
            <a:endParaRPr lang="en-US" altLang="ja-JP" sz="2800" dirty="0"/>
          </a:p>
          <a:p>
            <a:r>
              <a:rPr lang="ja-JP" altLang="en-US" sz="2800" dirty="0"/>
              <a:t>メリット</a:t>
            </a:r>
            <a:r>
              <a:rPr lang="en-US" altLang="ja-JP" sz="2800" dirty="0"/>
              <a:t>: </a:t>
            </a:r>
          </a:p>
          <a:p>
            <a:pPr lvl="1"/>
            <a:r>
              <a:rPr lang="ja-JP" altLang="en-US" sz="2800" dirty="0"/>
              <a:t>データの独立性が高く、</a:t>
            </a:r>
            <a:r>
              <a:rPr lang="en-US" altLang="ja-JP" sz="2800" dirty="0"/>
              <a:t>UI</a:t>
            </a:r>
            <a:r>
              <a:rPr lang="ja-JP" altLang="en-US" sz="2800" dirty="0"/>
              <a:t>の変更がロジックに影響しにくい（保守性）。</a:t>
            </a:r>
          </a:p>
        </p:txBody>
      </p:sp>
    </p:spTree>
    <p:extLst>
      <p:ext uri="{BB962C8B-B14F-4D97-AF65-F5344CB8AC3E}">
        <p14:creationId xmlns:p14="http://schemas.microsoft.com/office/powerpoint/2010/main" val="995691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50FF-AAF7-6546-2FF6-A7AA5427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482721-B1C4-5A3B-4B5A-F17253694181}"/>
              </a:ext>
            </a:extLst>
          </p:cNvPr>
          <p:cNvSpPr txBox="1"/>
          <p:nvPr/>
        </p:nvSpPr>
        <p:spPr>
          <a:xfrm>
            <a:off x="1202135" y="676763"/>
            <a:ext cx="73292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データベース定義</a:t>
            </a:r>
            <a:r>
              <a:rPr kumimoji="1" lang="ja-JP" altLang="en-US" sz="2800" dirty="0">
                <a:latin typeface="+mn-ea"/>
              </a:rPr>
              <a:t>（</a:t>
            </a:r>
            <a:r>
              <a:rPr kumimoji="1" lang="en-US" altLang="ja-JP" sz="2800" dirty="0">
                <a:latin typeface="+mn-ea"/>
              </a:rPr>
              <a:t>models.py</a:t>
            </a:r>
            <a:r>
              <a:rPr kumimoji="1" lang="ja-JP" altLang="en-US" sz="2800" dirty="0">
                <a:latin typeface="+mn-ea"/>
              </a:rPr>
              <a:t>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AF61621-5372-A4B6-2F72-2561016F544E}"/>
              </a:ext>
            </a:extLst>
          </p:cNvPr>
          <p:cNvSpPr txBox="1"/>
          <p:nvPr/>
        </p:nvSpPr>
        <p:spPr>
          <a:xfrm>
            <a:off x="406885" y="1874728"/>
            <a:ext cx="1137823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ja-JP" altLang="en-US" sz="2800" dirty="0"/>
              <a:t>データベースのテーブル定義を</a:t>
            </a:r>
            <a:r>
              <a:rPr lang="en-US" altLang="ja-JP" sz="2800" dirty="0"/>
              <a:t>Python</a:t>
            </a:r>
            <a:r>
              <a:rPr lang="ja-JP" altLang="en-US" sz="2800" dirty="0"/>
              <a:t>クラスとして記述。 </a:t>
            </a:r>
            <a:endParaRPr lang="en-US" altLang="ja-JP" sz="2800" dirty="0"/>
          </a:p>
          <a:p>
            <a:r>
              <a:rPr lang="ja-JP" altLang="en-US" sz="2800" dirty="0"/>
              <a:t>外部キー </a:t>
            </a:r>
            <a:r>
              <a:rPr lang="en-US" altLang="ja-JP" sz="2800" dirty="0"/>
              <a:t>(</a:t>
            </a:r>
            <a:r>
              <a:rPr lang="en-US" altLang="ja-JP" sz="2800" dirty="0" err="1"/>
              <a:t>ForeignKey</a:t>
            </a:r>
            <a:r>
              <a:rPr lang="en-US" altLang="ja-JP" sz="2800" dirty="0"/>
              <a:t>) </a:t>
            </a:r>
            <a:r>
              <a:rPr lang="ja-JP" altLang="en-US" sz="2800" dirty="0"/>
              <a:t>を用いて、ユーザーやカテゴリーとのリレーションを定義。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7BC96A9-D5CD-745F-1CD3-B10DB222046E}"/>
              </a:ext>
            </a:extLst>
          </p:cNvPr>
          <p:cNvSpPr/>
          <p:nvPr/>
        </p:nvSpPr>
        <p:spPr>
          <a:xfrm>
            <a:off x="406885" y="3765189"/>
            <a:ext cx="5512940" cy="24931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/>
              <a:t>コードのハイライト（スクリーンショット等を貼る）</a:t>
            </a:r>
            <a:r>
              <a:rPr lang="en-US" altLang="ja-JP" dirty="0"/>
              <a:t>: </a:t>
            </a:r>
          </a:p>
          <a:p>
            <a:r>
              <a:rPr lang="en-US" altLang="ja-JP" dirty="0"/>
              <a:t>Python class Report(</a:t>
            </a:r>
            <a:r>
              <a:rPr lang="en-US" altLang="ja-JP" dirty="0" err="1"/>
              <a:t>models.Model</a:t>
            </a:r>
            <a:r>
              <a:rPr lang="en-US" altLang="ja-JP" dirty="0"/>
              <a:t>): user = </a:t>
            </a:r>
            <a:r>
              <a:rPr lang="en-US" altLang="ja-JP" dirty="0" err="1"/>
              <a:t>models.ForeignKey</a:t>
            </a:r>
            <a:r>
              <a:rPr lang="en-US" altLang="ja-JP" dirty="0"/>
              <a:t>(User, ...) # </a:t>
            </a:r>
            <a:r>
              <a:rPr lang="ja-JP" altLang="en-US" dirty="0"/>
              <a:t>ユーザー紐付け </a:t>
            </a:r>
            <a:r>
              <a:rPr lang="en-US" altLang="ja-JP" dirty="0"/>
              <a:t>category = </a:t>
            </a:r>
            <a:r>
              <a:rPr lang="en-US" altLang="ja-JP" dirty="0" err="1"/>
              <a:t>models.ForeignKey</a:t>
            </a:r>
            <a:r>
              <a:rPr lang="en-US" altLang="ja-JP" dirty="0"/>
              <a:t>(Category, ...) # </a:t>
            </a:r>
            <a:r>
              <a:rPr lang="ja-JP" altLang="en-US" dirty="0"/>
              <a:t>カテゴリー紐付け </a:t>
            </a:r>
            <a:r>
              <a:rPr lang="en-US" altLang="ja-JP" dirty="0"/>
              <a:t>condition = </a:t>
            </a:r>
            <a:r>
              <a:rPr lang="en-US" altLang="ja-JP" dirty="0" err="1"/>
              <a:t>models.IntegerField</a:t>
            </a:r>
            <a:r>
              <a:rPr lang="en-US" altLang="ja-JP" dirty="0"/>
              <a:t>(...) # SOS</a:t>
            </a:r>
            <a:r>
              <a:rPr lang="ja-JP" altLang="en-US" dirty="0"/>
              <a:t>判定用の数値</a:t>
            </a:r>
            <a:r>
              <a:rPr lang="en-US" altLang="ja-JP" dirty="0"/>
              <a:t>(1~5) # ...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238F125-5993-A158-8016-A2A6C4A4BEE8}"/>
              </a:ext>
            </a:extLst>
          </p:cNvPr>
          <p:cNvSpPr txBox="1"/>
          <p:nvPr/>
        </p:nvSpPr>
        <p:spPr>
          <a:xfrm>
            <a:off x="6096000" y="4103826"/>
            <a:ext cx="56891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ポイント</a:t>
            </a:r>
            <a:r>
              <a:rPr lang="en-US" altLang="ja-JP" sz="2800" dirty="0"/>
              <a:t>: </a:t>
            </a:r>
          </a:p>
          <a:p>
            <a:pPr>
              <a:spcAft>
                <a:spcPts val="1800"/>
              </a:spcAft>
            </a:pPr>
            <a:r>
              <a:rPr lang="en-US" altLang="ja-JP" sz="2800" dirty="0"/>
              <a:t>condition </a:t>
            </a:r>
            <a:r>
              <a:rPr lang="ja-JP" altLang="en-US" sz="2800" dirty="0"/>
              <a:t>カラムに </a:t>
            </a:r>
            <a:r>
              <a:rPr lang="en-US" altLang="ja-JP" sz="2800" dirty="0"/>
              <a:t>1(SOS) 〜 5(</a:t>
            </a:r>
            <a:r>
              <a:rPr lang="ja-JP" altLang="en-US" sz="2800" dirty="0"/>
              <a:t>絶好調</a:t>
            </a:r>
            <a:r>
              <a:rPr lang="en-US" altLang="ja-JP" sz="2800" dirty="0"/>
              <a:t>) </a:t>
            </a:r>
            <a:r>
              <a:rPr lang="ja-JP" altLang="en-US" sz="2800" dirty="0"/>
              <a:t>の数値を格納し、定量的な分析を可能に設計。</a:t>
            </a:r>
          </a:p>
        </p:txBody>
      </p:sp>
    </p:spTree>
    <p:extLst>
      <p:ext uri="{BB962C8B-B14F-4D97-AF65-F5344CB8AC3E}">
        <p14:creationId xmlns:p14="http://schemas.microsoft.com/office/powerpoint/2010/main" val="1986847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7B7D9-9206-9D0B-3FA5-57E8C857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F0AE52-6400-EB9B-F9D8-19CAA5278CF1}"/>
              </a:ext>
            </a:extLst>
          </p:cNvPr>
          <p:cNvSpPr txBox="1"/>
          <p:nvPr/>
        </p:nvSpPr>
        <p:spPr>
          <a:xfrm>
            <a:off x="1218177" y="630780"/>
            <a:ext cx="104166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ロジックの実装とクエリ最適化</a:t>
            </a:r>
            <a:r>
              <a:rPr kumimoji="1" lang="ja-JP" altLang="en-US" sz="2800" dirty="0">
                <a:latin typeface="+mj-ea"/>
                <a:ea typeface="+mj-ea"/>
              </a:rPr>
              <a:t>（</a:t>
            </a:r>
            <a:r>
              <a:rPr kumimoji="1" lang="en-US" altLang="ja-JP" sz="2800" dirty="0">
                <a:latin typeface="+mj-ea"/>
                <a:ea typeface="+mj-ea"/>
              </a:rPr>
              <a:t>views.py</a:t>
            </a:r>
            <a:r>
              <a:rPr kumimoji="1" lang="ja-JP" altLang="en-US" sz="2800" dirty="0">
                <a:latin typeface="+mj-ea"/>
                <a:ea typeface="+mj-ea"/>
              </a:rPr>
              <a:t>）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811BC33-4C4B-D0EA-879F-78D75ADFEE8D}"/>
              </a:ext>
            </a:extLst>
          </p:cNvPr>
          <p:cNvSpPr txBox="1"/>
          <p:nvPr/>
        </p:nvSpPr>
        <p:spPr>
          <a:xfrm>
            <a:off x="406885" y="1874728"/>
            <a:ext cx="11378230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ja-JP" altLang="en-US" sz="2800" dirty="0"/>
              <a:t>クラスベースビュー </a:t>
            </a:r>
            <a:r>
              <a:rPr lang="en-US" altLang="ja-JP" sz="2800" dirty="0"/>
              <a:t>(CBV) </a:t>
            </a:r>
            <a:r>
              <a:rPr lang="ja-JP" altLang="en-US" sz="2800" dirty="0"/>
              <a:t>を採用し、コードの再利用性を向上。 </a:t>
            </a:r>
            <a:endParaRPr lang="en-US" altLang="ja-JP" sz="2800" dirty="0"/>
          </a:p>
          <a:p>
            <a:r>
              <a:rPr lang="ja-JP" altLang="en-US" sz="2800" dirty="0"/>
              <a:t>データベースへの負荷を考慮したクエリ構築。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67C8E2D-0C33-1DE3-35E6-891E50C892D4}"/>
              </a:ext>
            </a:extLst>
          </p:cNvPr>
          <p:cNvSpPr/>
          <p:nvPr/>
        </p:nvSpPr>
        <p:spPr>
          <a:xfrm>
            <a:off x="3339530" y="3429000"/>
            <a:ext cx="5512940" cy="24931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/>
              <a:t>コードのハイライト（スクリーンショット等を貼る）</a:t>
            </a:r>
            <a:r>
              <a:rPr lang="en-US" altLang="ja-JP" dirty="0"/>
              <a:t>: </a:t>
            </a:r>
          </a:p>
          <a:p>
            <a:pPr fontAlgn="base"/>
            <a:r>
              <a:rPr lang="en-US" altLang="ja-JP" dirty="0"/>
              <a:t># N+1</a:t>
            </a:r>
            <a:r>
              <a:rPr lang="ja-JP" altLang="en-US" dirty="0"/>
              <a:t>問題の対策（結合して取得）</a:t>
            </a:r>
          </a:p>
          <a:p>
            <a:r>
              <a:rPr lang="en-US" altLang="ja-JP" dirty="0"/>
              <a:t>def </a:t>
            </a:r>
            <a:r>
              <a:rPr lang="en-US" altLang="ja-JP" dirty="0" err="1"/>
              <a:t>get_queryset</a:t>
            </a:r>
            <a:r>
              <a:rPr lang="en-US" altLang="ja-JP" dirty="0"/>
              <a:t>(self): return </a:t>
            </a:r>
            <a:r>
              <a:rPr lang="en-US" altLang="ja-JP" dirty="0" err="1"/>
              <a:t>Report.objects.select_related</a:t>
            </a:r>
            <a:r>
              <a:rPr lang="en-US" altLang="ja-JP" dirty="0"/>
              <a:t>('user', 'category') \ .</a:t>
            </a:r>
            <a:r>
              <a:rPr lang="en-US" altLang="ja-JP" dirty="0" err="1"/>
              <a:t>prefetch_related</a:t>
            </a:r>
            <a:r>
              <a:rPr lang="en-US" altLang="ja-JP" dirty="0"/>
              <a:t>('tags')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1708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93C65-7198-A47F-BA80-CF42D80F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C0064AD-59BC-027A-16D4-EC068136F127}"/>
              </a:ext>
            </a:extLst>
          </p:cNvPr>
          <p:cNvSpPr txBox="1"/>
          <p:nvPr/>
        </p:nvSpPr>
        <p:spPr>
          <a:xfrm>
            <a:off x="1218177" y="630780"/>
            <a:ext cx="104166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ロジックの実装とクエリ最適化</a:t>
            </a:r>
            <a:r>
              <a:rPr kumimoji="1" lang="ja-JP" altLang="en-US" sz="2800" dirty="0">
                <a:latin typeface="+mj-ea"/>
                <a:ea typeface="+mj-ea"/>
              </a:rPr>
              <a:t>（</a:t>
            </a:r>
            <a:r>
              <a:rPr kumimoji="1" lang="en-US" altLang="ja-JP" sz="2800" dirty="0">
                <a:latin typeface="+mj-ea"/>
                <a:ea typeface="+mj-ea"/>
              </a:rPr>
              <a:t>views.py</a:t>
            </a:r>
            <a:r>
              <a:rPr kumimoji="1" lang="ja-JP" altLang="en-US" sz="2800" dirty="0">
                <a:latin typeface="+mj-ea"/>
                <a:ea typeface="+mj-ea"/>
              </a:rPr>
              <a:t>）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3E7B1BA-5F6D-CE49-44C5-0F9EEDE3C760}"/>
              </a:ext>
            </a:extLst>
          </p:cNvPr>
          <p:cNvSpPr txBox="1"/>
          <p:nvPr/>
        </p:nvSpPr>
        <p:spPr>
          <a:xfrm>
            <a:off x="406885" y="1874728"/>
            <a:ext cx="1137823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ja-JP" altLang="en-US" sz="2800" dirty="0"/>
              <a:t>実装した主なロジック</a:t>
            </a:r>
            <a:r>
              <a:rPr lang="en-US" altLang="ja-JP" sz="2800" dirty="0"/>
              <a:t>:</a:t>
            </a:r>
          </a:p>
          <a:p>
            <a:pPr lvl="1">
              <a:spcAft>
                <a:spcPts val="600"/>
              </a:spcAft>
            </a:pPr>
            <a:r>
              <a:rPr lang="ja-JP" altLang="en-US" sz="2800" dirty="0"/>
              <a:t>検索機能</a:t>
            </a:r>
            <a:r>
              <a:rPr lang="en-US" altLang="ja-JP" sz="2800" dirty="0"/>
              <a:t>: Q</a:t>
            </a:r>
            <a:r>
              <a:rPr lang="ja-JP" altLang="en-US" sz="2800" dirty="0"/>
              <a:t>オブジェクト を使用したタイトル・本文の複合検索。</a:t>
            </a:r>
            <a:endParaRPr lang="en-US" altLang="ja-JP" sz="2800" dirty="0"/>
          </a:p>
          <a:p>
            <a:pPr lvl="1">
              <a:spcAft>
                <a:spcPts val="600"/>
              </a:spcAft>
            </a:pPr>
            <a:r>
              <a:rPr lang="en-US" altLang="ja-JP" sz="2800" dirty="0"/>
              <a:t>SOS</a:t>
            </a:r>
            <a:r>
              <a:rPr lang="ja-JP" altLang="en-US" sz="2800" dirty="0"/>
              <a:t>判定</a:t>
            </a:r>
            <a:r>
              <a:rPr lang="en-US" altLang="ja-JP" sz="2800" dirty="0"/>
              <a:t>: </a:t>
            </a:r>
            <a:r>
              <a:rPr lang="ja-JP" altLang="en-US" sz="2800" dirty="0"/>
              <a:t>コンディション値に基づくアラートフラグの付与。</a:t>
            </a:r>
          </a:p>
        </p:txBody>
      </p:sp>
    </p:spTree>
    <p:extLst>
      <p:ext uri="{BB962C8B-B14F-4D97-AF65-F5344CB8AC3E}">
        <p14:creationId xmlns:p14="http://schemas.microsoft.com/office/powerpoint/2010/main" val="14634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F84BA-8259-8102-C67B-51AA184C0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D3FB28-7043-D537-1CB4-94D035BD336F}"/>
              </a:ext>
            </a:extLst>
          </p:cNvPr>
          <p:cNvSpPr txBox="1"/>
          <p:nvPr/>
        </p:nvSpPr>
        <p:spPr>
          <a:xfrm>
            <a:off x="1218177" y="630780"/>
            <a:ext cx="83423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プロジェクト構造と環境分離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FD2C1D-4997-ECA5-3150-730C0510519D}"/>
              </a:ext>
            </a:extLst>
          </p:cNvPr>
          <p:cNvSpPr txBox="1"/>
          <p:nvPr/>
        </p:nvSpPr>
        <p:spPr>
          <a:xfrm>
            <a:off x="406885" y="1874728"/>
            <a:ext cx="1137823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ディレクトリ構成</a:t>
            </a:r>
            <a:r>
              <a:rPr lang="en-US" altLang="ja-JP" sz="2800" b="1" dirty="0"/>
              <a:t>:</a:t>
            </a:r>
          </a:p>
          <a:p>
            <a:pPr lvl="1">
              <a:spcAft>
                <a:spcPts val="600"/>
              </a:spcAft>
            </a:pPr>
            <a:r>
              <a:rPr lang="ja-JP" altLang="en-US" sz="2800" dirty="0"/>
              <a:t>機能ごとにアプリケーション </a:t>
            </a:r>
            <a:r>
              <a:rPr lang="en-US" altLang="ja-JP" sz="2800" dirty="0"/>
              <a:t>(reports, accounts) </a:t>
            </a:r>
            <a:r>
              <a:rPr lang="ja-JP" altLang="en-US" sz="2800" dirty="0"/>
              <a:t>を分割し、見通しの良い構成を維持。</a:t>
            </a:r>
            <a:endParaRPr lang="en-US" altLang="ja-JP" sz="2800" dirty="0"/>
          </a:p>
          <a:p>
            <a:pPr lvl="1"/>
            <a:r>
              <a:rPr lang="en-US" altLang="ja-JP" sz="2400" dirty="0"/>
              <a:t>├── config/ # </a:t>
            </a:r>
            <a:r>
              <a:rPr lang="ja-JP" altLang="en-US" sz="2400" dirty="0"/>
              <a:t>全体の設定 </a:t>
            </a:r>
            <a:r>
              <a:rPr lang="en-US" altLang="ja-JP" sz="2400" dirty="0"/>
              <a:t>(settings.py) </a:t>
            </a:r>
          </a:p>
          <a:p>
            <a:pPr lvl="1"/>
            <a:r>
              <a:rPr lang="en-US" altLang="ja-JP" sz="2400" dirty="0"/>
              <a:t>├── reports/ # </a:t>
            </a:r>
            <a:r>
              <a:rPr lang="ja-JP" altLang="en-US" sz="2400" dirty="0"/>
              <a:t>日報機能 </a:t>
            </a:r>
            <a:r>
              <a:rPr lang="en-US" altLang="ja-JP" sz="2400" dirty="0"/>
              <a:t>(models, views) </a:t>
            </a:r>
          </a:p>
          <a:p>
            <a:pPr lvl="1">
              <a:spcAft>
                <a:spcPts val="1800"/>
              </a:spcAft>
            </a:pPr>
            <a:r>
              <a:rPr lang="ja-JP" altLang="en-US" sz="2400" dirty="0"/>
              <a:t> └</a:t>
            </a:r>
            <a:r>
              <a:rPr lang="en-US" altLang="ja-JP" sz="2400" dirty="0"/>
              <a:t>── accounts/ #</a:t>
            </a:r>
            <a:r>
              <a:rPr lang="ja-JP" altLang="en-US" sz="2400" dirty="0"/>
              <a:t>ユーザー認証・管理機能</a:t>
            </a:r>
            <a:endParaRPr lang="en-US" altLang="ja-JP" sz="2400" dirty="0"/>
          </a:p>
          <a:p>
            <a:r>
              <a:rPr lang="ja-JP" altLang="en-US" sz="2800" dirty="0"/>
              <a:t>環境設定 </a:t>
            </a:r>
            <a:r>
              <a:rPr lang="en-US" altLang="ja-JP" sz="2800" dirty="0"/>
              <a:t>(settings.py):</a:t>
            </a:r>
          </a:p>
          <a:p>
            <a:pPr lvl="1"/>
            <a:r>
              <a:rPr lang="en-US" altLang="ja-JP" sz="2800" dirty="0"/>
              <a:t>ALLOWED_HOSTS </a:t>
            </a:r>
            <a:r>
              <a:rPr lang="ja-JP" altLang="en-US" sz="2800" dirty="0"/>
              <a:t>や </a:t>
            </a:r>
            <a:r>
              <a:rPr lang="en-US" altLang="ja-JP" sz="2800" dirty="0"/>
              <a:t>CSRF_TRUSTED_ORIGINS </a:t>
            </a:r>
            <a:r>
              <a:rPr lang="ja-JP" altLang="en-US" sz="2800" dirty="0"/>
              <a:t>を設定し、</a:t>
            </a:r>
            <a:r>
              <a:rPr lang="en-US" altLang="ja-JP" sz="2800" dirty="0"/>
              <a:t>Docker</a:t>
            </a:r>
            <a:r>
              <a:rPr lang="ja-JP" altLang="en-US" sz="2800" dirty="0"/>
              <a:t>環境および外部公開（</a:t>
            </a:r>
            <a:r>
              <a:rPr lang="en-US" altLang="ja-JP" sz="2800" dirty="0" err="1"/>
              <a:t>ngrok</a:t>
            </a:r>
            <a:r>
              <a:rPr lang="ja-JP" altLang="en-US" sz="2800" dirty="0"/>
              <a:t>）に対応。</a:t>
            </a:r>
          </a:p>
        </p:txBody>
      </p:sp>
    </p:spTree>
    <p:extLst>
      <p:ext uri="{BB962C8B-B14F-4D97-AF65-F5344CB8AC3E}">
        <p14:creationId xmlns:p14="http://schemas.microsoft.com/office/powerpoint/2010/main" val="3089862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911E1-7A5C-F14C-8354-D44451D12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219CC3A-D341-28BF-8492-4A6BC24AB6EB}"/>
              </a:ext>
            </a:extLst>
          </p:cNvPr>
          <p:cNvSpPr txBox="1"/>
          <p:nvPr/>
        </p:nvSpPr>
        <p:spPr>
          <a:xfrm>
            <a:off x="1218177" y="630780"/>
            <a:ext cx="8662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画面構築とレスポンシブ対応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164210B-6796-BB53-78FE-755C2399334A}"/>
              </a:ext>
            </a:extLst>
          </p:cNvPr>
          <p:cNvSpPr txBox="1"/>
          <p:nvPr/>
        </p:nvSpPr>
        <p:spPr>
          <a:xfrm>
            <a:off x="406885" y="1874728"/>
            <a:ext cx="11378230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テンプレート継承</a:t>
            </a:r>
            <a:r>
              <a:rPr lang="en-US" altLang="ja-JP" sz="2800" b="1" dirty="0"/>
              <a:t>:</a:t>
            </a:r>
            <a:endParaRPr lang="en-US" altLang="ja-JP" sz="2800" dirty="0"/>
          </a:p>
          <a:p>
            <a:pPr lvl="1">
              <a:spcAft>
                <a:spcPts val="1800"/>
              </a:spcAft>
            </a:pPr>
            <a:r>
              <a:rPr lang="ja-JP" altLang="en-US" sz="2800" dirty="0"/>
              <a:t>共通部分（ヘッダー、ナビゲーション）を </a:t>
            </a:r>
            <a:r>
              <a:rPr lang="en-US" altLang="ja-JP" sz="2800" dirty="0"/>
              <a:t>base.html </a:t>
            </a:r>
            <a:r>
              <a:rPr lang="ja-JP" altLang="en-US" sz="2800" dirty="0"/>
              <a:t>に定義し、全ページで継承。修正箇所を最小限に抑える設計。</a:t>
            </a:r>
            <a:endParaRPr lang="en-US" altLang="ja-JP" sz="2800" dirty="0"/>
          </a:p>
          <a:p>
            <a:r>
              <a:rPr lang="ja-JP" altLang="en-US" sz="2800" b="1" dirty="0">
                <a:latin typeface="+mn-ea"/>
              </a:rPr>
              <a:t>スマホ対応 </a:t>
            </a:r>
            <a:r>
              <a:rPr lang="en-US" altLang="ja-JP" sz="2800" b="1" dirty="0">
                <a:latin typeface="+mn-ea"/>
              </a:rPr>
              <a:t>(CSS):</a:t>
            </a:r>
          </a:p>
          <a:p>
            <a:pPr lvl="1"/>
            <a:r>
              <a:rPr lang="ja-JP" altLang="en-US" sz="2800" dirty="0">
                <a:latin typeface="+mn-ea"/>
              </a:rPr>
              <a:t>メディアクエリ </a:t>
            </a:r>
            <a:r>
              <a:rPr lang="en-US" altLang="ja-JP" sz="2800" dirty="0">
                <a:latin typeface="+mn-ea"/>
              </a:rPr>
              <a:t>(@media) </a:t>
            </a:r>
            <a:r>
              <a:rPr lang="ja-JP" altLang="en-US" sz="2800" dirty="0">
                <a:latin typeface="+mn-ea"/>
              </a:rPr>
              <a:t>を使用し、画面幅に応じたレイアウト変更を実装。</a:t>
            </a:r>
          </a:p>
          <a:p>
            <a:pPr lvl="1"/>
            <a:r>
              <a:rPr lang="ja-JP" altLang="en-US" sz="2800" dirty="0">
                <a:latin typeface="+mn-ea"/>
              </a:rPr>
              <a:t>一覧画面やフォームの崩れを防ぎ、モバイルからの利用をサポート。</a:t>
            </a:r>
          </a:p>
        </p:txBody>
      </p:sp>
    </p:spTree>
    <p:extLst>
      <p:ext uri="{BB962C8B-B14F-4D97-AF65-F5344CB8AC3E}">
        <p14:creationId xmlns:p14="http://schemas.microsoft.com/office/powerpoint/2010/main" val="3198324727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</TotalTime>
  <Words>504</Words>
  <Application>Microsoft Office PowerPoint</Application>
  <PresentationFormat>ワイド画面</PresentationFormat>
  <Paragraphs>45</Paragraphs>
  <Slides>7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HGP創英角ﾎﾟｯﾌﾟ体</vt:lpstr>
      <vt:lpstr>ＭＳ ゴシック</vt:lpstr>
      <vt:lpstr>游ゴシック</vt:lpstr>
      <vt:lpstr>Calibri</vt:lpstr>
      <vt:lpstr>Calibri Light</vt:lpstr>
      <vt:lpstr>レトロスペクト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g2442102/渡邉 諒</dc:creator>
  <cp:lastModifiedBy>g2442102/渡邉 諒</cp:lastModifiedBy>
  <cp:revision>26</cp:revision>
  <dcterms:created xsi:type="dcterms:W3CDTF">2025-12-19T01:33:25Z</dcterms:created>
  <dcterms:modified xsi:type="dcterms:W3CDTF">2026-01-05T09:34:38Z</dcterms:modified>
</cp:coreProperties>
</file>