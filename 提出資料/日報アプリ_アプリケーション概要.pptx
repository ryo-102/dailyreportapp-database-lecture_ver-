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9" r:id="rId4"/>
    <p:sldId id="258" r:id="rId5"/>
    <p:sldId id="267" r:id="rId6"/>
    <p:sldId id="265" r:id="rId7"/>
    <p:sldId id="266" r:id="rId8"/>
    <p:sldId id="270" r:id="rId9"/>
    <p:sldId id="269" r:id="rId10"/>
    <p:sldId id="260" r:id="rId11"/>
    <p:sldId id="272" r:id="rId12"/>
    <p:sldId id="273" r:id="rId13"/>
    <p:sldId id="268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65" autoAdjust="0"/>
    <p:restoredTop sz="94660"/>
  </p:normalViewPr>
  <p:slideViewPr>
    <p:cSldViewPr snapToGrid="0">
      <p:cViewPr varScale="1">
        <p:scale>
          <a:sx n="98" d="100"/>
          <a:sy n="98" d="100"/>
        </p:scale>
        <p:origin x="259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E794E-DFDF-411D-BABB-3ADDCA9ED3AD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6696E-A14C-4A9B-8C6D-4F83F4C504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438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46696E-A14C-4A9B-8C6D-4F83F4C5040E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6586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832E9-73E4-2F1A-7C28-5108D63CD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FFB257A-B79E-35BD-AA79-464BDC625F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69A9524-C1DC-6C5E-5CE8-253C61D81F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C837BF3-9049-E90C-DF87-511A9D1D03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46696E-A14C-4A9B-8C6D-4F83F4C5040E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3684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1070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351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0904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66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27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7105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5494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3198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488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220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1560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2EFEB2A-D862-411E-963D-25B6AA0AED80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C9D50B4-C104-42AD-A2DE-C1F2B47EB7F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2415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kumimoji="1"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kumimoji="1"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AD270DE-BF57-EAAA-9B62-3935430BA877}"/>
              </a:ext>
            </a:extLst>
          </p:cNvPr>
          <p:cNvSpPr txBox="1"/>
          <p:nvPr/>
        </p:nvSpPr>
        <p:spPr>
          <a:xfrm>
            <a:off x="929361" y="1933864"/>
            <a:ext cx="10333277" cy="1963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ja-JP" altLang="en-US" sz="2800" dirty="0"/>
              <a:t>データベース講義 最終課題発表</a:t>
            </a:r>
          </a:p>
          <a:p>
            <a:pPr algn="ctr">
              <a:lnSpc>
                <a:spcPct val="200000"/>
              </a:lnSpc>
            </a:pPr>
            <a:r>
              <a:rPr kumimoji="1" lang="ja-JP" altLang="en-US" sz="40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チームの「</a:t>
            </a:r>
            <a:r>
              <a:rPr kumimoji="1" lang="en-US" altLang="ja-JP" sz="40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SOS</a:t>
            </a:r>
            <a:r>
              <a:rPr kumimoji="1" lang="ja-JP" altLang="en-US" sz="40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」を見逃さない日報共有システム</a:t>
            </a:r>
            <a:endParaRPr kumimoji="1" lang="en-US" altLang="ja-JP" sz="4000" b="1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7504F19-AB7E-AD73-461D-CC4095005594}"/>
              </a:ext>
            </a:extLst>
          </p:cNvPr>
          <p:cNvSpPr txBox="1"/>
          <p:nvPr/>
        </p:nvSpPr>
        <p:spPr>
          <a:xfrm>
            <a:off x="128337" y="5239352"/>
            <a:ext cx="818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チームメンバー：渡邉諒 </a:t>
            </a:r>
            <a:r>
              <a:rPr kumimoji="1" lang="en-US" altLang="ja-JP" sz="2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(2442102)</a:t>
            </a:r>
            <a:r>
              <a:rPr kumimoji="1" lang="ja-JP" altLang="en-US" sz="2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・田中誠真 </a:t>
            </a:r>
            <a:r>
              <a:rPr kumimoji="1" lang="en-US" altLang="ja-JP" sz="2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(2442054)</a:t>
            </a:r>
            <a:endParaRPr kumimoji="1" lang="ja-JP" altLang="en-US" sz="24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55827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4DF0D4F-5C7A-0C73-FF31-23122D0E3251}"/>
              </a:ext>
            </a:extLst>
          </p:cNvPr>
          <p:cNvSpPr txBox="1"/>
          <p:nvPr/>
        </p:nvSpPr>
        <p:spPr>
          <a:xfrm>
            <a:off x="1202135" y="676763"/>
            <a:ext cx="2954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使用技術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8657DC8-50D6-A289-BEB4-4A097DB1EF3D}"/>
              </a:ext>
            </a:extLst>
          </p:cNvPr>
          <p:cNvSpPr txBox="1"/>
          <p:nvPr/>
        </p:nvSpPr>
        <p:spPr>
          <a:xfrm>
            <a:off x="406885" y="2103328"/>
            <a:ext cx="1137823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ja-JP" altLang="en-US" sz="2800" dirty="0"/>
              <a:t>開発言語</a:t>
            </a:r>
            <a:r>
              <a:rPr lang="en-US" altLang="ja-JP" sz="2800" dirty="0"/>
              <a:t>: Python 3.11</a:t>
            </a:r>
          </a:p>
          <a:p>
            <a:pPr>
              <a:spcAft>
                <a:spcPts val="1800"/>
              </a:spcAft>
            </a:pPr>
            <a:r>
              <a:rPr lang="ja-JP" altLang="en-US" sz="2800" dirty="0"/>
              <a:t>フレームワーク</a:t>
            </a:r>
            <a:r>
              <a:rPr lang="en-US" altLang="ja-JP" sz="2800" dirty="0"/>
              <a:t>: Django 5.0</a:t>
            </a:r>
          </a:p>
          <a:p>
            <a:pPr>
              <a:spcAft>
                <a:spcPts val="1800"/>
              </a:spcAft>
            </a:pPr>
            <a:r>
              <a:rPr lang="ja-JP" altLang="en-US" sz="2800" dirty="0"/>
              <a:t>データベース</a:t>
            </a:r>
            <a:r>
              <a:rPr lang="en-US" altLang="ja-JP" sz="2800" dirty="0"/>
              <a:t>: PostgreSQL 15</a:t>
            </a:r>
          </a:p>
          <a:p>
            <a:pPr>
              <a:spcAft>
                <a:spcPts val="1800"/>
              </a:spcAft>
            </a:pPr>
            <a:r>
              <a:rPr lang="ja-JP" altLang="en-US" sz="2800" dirty="0"/>
              <a:t>インフラ</a:t>
            </a:r>
            <a:r>
              <a:rPr lang="en-US" altLang="ja-JP" sz="2800" dirty="0"/>
              <a:t>:</a:t>
            </a:r>
            <a:r>
              <a:rPr lang="ja-JP" altLang="en-US" sz="2800" dirty="0"/>
              <a:t> </a:t>
            </a:r>
            <a:r>
              <a:rPr lang="en-US" altLang="ja-JP" sz="2800" dirty="0"/>
              <a:t>Docker</a:t>
            </a:r>
          </a:p>
          <a:p>
            <a:pPr>
              <a:spcAft>
                <a:spcPts val="1800"/>
              </a:spcAft>
            </a:pPr>
            <a:r>
              <a:rPr lang="ja-JP" altLang="en-US" sz="2800" dirty="0"/>
              <a:t>フロントエンド</a:t>
            </a:r>
            <a:r>
              <a:rPr lang="en-US" altLang="ja-JP" sz="2800" dirty="0"/>
              <a:t>: HTML5/CSS3</a:t>
            </a:r>
            <a:endParaRPr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592026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2364D-54C9-D6F6-0CF0-C9E77891A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4CAEC88-5000-E7CD-6B22-C14B4637B13E}"/>
              </a:ext>
            </a:extLst>
          </p:cNvPr>
          <p:cNvSpPr txBox="1"/>
          <p:nvPr/>
        </p:nvSpPr>
        <p:spPr>
          <a:xfrm>
            <a:off x="1202135" y="676763"/>
            <a:ext cx="35557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背景と課題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E029BA2-DBDE-21A5-6175-5688B34FF5F0}"/>
              </a:ext>
            </a:extLst>
          </p:cNvPr>
          <p:cNvSpPr txBox="1"/>
          <p:nvPr/>
        </p:nvSpPr>
        <p:spPr>
          <a:xfrm>
            <a:off x="406885" y="1874728"/>
            <a:ext cx="11378230" cy="349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開発の動機</a:t>
            </a:r>
            <a:r>
              <a:rPr lang="en-US" altLang="ja-JP" sz="2800" dirty="0"/>
              <a:t>:</a:t>
            </a:r>
          </a:p>
          <a:p>
            <a:pPr lvl="1">
              <a:spcAft>
                <a:spcPts val="600"/>
              </a:spcAft>
            </a:pPr>
            <a:r>
              <a:rPr lang="ja-JP" altLang="en-US" sz="2800" dirty="0"/>
              <a:t>・リモートワークや多忙な業務において、メンバーの不調（</a:t>
            </a:r>
            <a:r>
              <a:rPr lang="en-US" altLang="ja-JP" sz="2800" dirty="0"/>
              <a:t>SOS</a:t>
            </a:r>
            <a:r>
              <a:rPr lang="ja-JP" altLang="en-US" sz="2800" dirty="0"/>
              <a:t>）や貢献が見えづらい。</a:t>
            </a:r>
          </a:p>
          <a:p>
            <a:pPr lvl="1">
              <a:spcAft>
                <a:spcPts val="1800"/>
              </a:spcAft>
            </a:pPr>
            <a:r>
              <a:rPr lang="ja-JP" altLang="en-US" sz="2800" dirty="0"/>
              <a:t>・単なる業務報告だけでは、チームの雰囲気が分からない。</a:t>
            </a:r>
          </a:p>
          <a:p>
            <a:r>
              <a:rPr lang="ja-JP" altLang="en-US" sz="2800" dirty="0"/>
              <a:t>解決策</a:t>
            </a:r>
            <a:r>
              <a:rPr lang="en-US" altLang="ja-JP" sz="2800" dirty="0"/>
              <a:t>:</a:t>
            </a:r>
          </a:p>
          <a:p>
            <a:pPr lvl="1">
              <a:spcAft>
                <a:spcPts val="600"/>
              </a:spcAft>
            </a:pPr>
            <a:r>
              <a:rPr lang="ja-JP" altLang="en-US" sz="2800" dirty="0"/>
              <a:t>・日報に「コンディション（調子）」という定量データを付与。</a:t>
            </a:r>
          </a:p>
          <a:p>
            <a:pPr lvl="1"/>
            <a:r>
              <a:rPr lang="ja-JP" altLang="en-US" sz="2800" dirty="0"/>
              <a:t>・「書く」だけでなく「データとして集計・可視化」するシステムを構築する。</a:t>
            </a:r>
          </a:p>
        </p:txBody>
      </p:sp>
    </p:spTree>
    <p:extLst>
      <p:ext uri="{BB962C8B-B14F-4D97-AF65-F5344CB8AC3E}">
        <p14:creationId xmlns:p14="http://schemas.microsoft.com/office/powerpoint/2010/main" val="995691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7B7D9-9206-9D0B-3FA5-57E8C8575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0F0AE52-6400-EB9B-F9D8-19CAA5278CF1}"/>
              </a:ext>
            </a:extLst>
          </p:cNvPr>
          <p:cNvSpPr txBox="1"/>
          <p:nvPr/>
        </p:nvSpPr>
        <p:spPr>
          <a:xfrm>
            <a:off x="1218177" y="630780"/>
            <a:ext cx="40959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システム概要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C18871F-DAA0-B20E-06D8-2175E54E9615}"/>
              </a:ext>
            </a:extLst>
          </p:cNvPr>
          <p:cNvSpPr txBox="1"/>
          <p:nvPr/>
        </p:nvSpPr>
        <p:spPr>
          <a:xfrm>
            <a:off x="406885" y="1874728"/>
            <a:ext cx="1137823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Aft>
                <a:spcPts val="1800"/>
              </a:spcAft>
            </a:pPr>
            <a:r>
              <a:rPr lang="ja-JP" altLang="en-US" sz="2800" dirty="0"/>
              <a:t>アプリ名</a:t>
            </a:r>
            <a:r>
              <a:rPr lang="en-US" altLang="ja-JP" sz="2800" dirty="0"/>
              <a:t>: </a:t>
            </a:r>
            <a:r>
              <a:rPr lang="en-US" altLang="ja-JP" sz="2800" dirty="0" err="1"/>
              <a:t>DailyReportApp</a:t>
            </a:r>
            <a:endParaRPr lang="en-US" altLang="ja-JP" sz="2800" dirty="0"/>
          </a:p>
          <a:p>
            <a:pPr lvl="0" defTabSz="914400" eaLnBrk="0" fontAlgn="base" hangingPunct="0">
              <a:spcAft>
                <a:spcPts val="1800"/>
              </a:spcAft>
            </a:pPr>
            <a:r>
              <a:rPr lang="ja-JP" altLang="en-US" sz="2800" dirty="0"/>
              <a:t>主な機能</a:t>
            </a:r>
            <a:r>
              <a:rPr lang="en-US" altLang="ja-JP" sz="2800" dirty="0"/>
              <a:t>:</a:t>
            </a:r>
          </a:p>
          <a:p>
            <a:pPr lvl="1" defTabSz="914400" eaLnBrk="0" fontAlgn="base" hangingPunct="0">
              <a:spcAft>
                <a:spcPts val="1800"/>
              </a:spcAft>
            </a:pPr>
            <a:r>
              <a:rPr lang="ja-JP" altLang="en-US" sz="2800" dirty="0"/>
              <a:t>・</a:t>
            </a:r>
            <a:r>
              <a:rPr lang="en-US" altLang="ja-JP" sz="2800" dirty="0"/>
              <a:t>CRUD</a:t>
            </a:r>
            <a:r>
              <a:rPr lang="ja-JP" altLang="en-US" sz="2800" dirty="0"/>
              <a:t>機能</a:t>
            </a:r>
            <a:r>
              <a:rPr lang="en-US" altLang="ja-JP" sz="2800" dirty="0"/>
              <a:t>: </a:t>
            </a:r>
            <a:r>
              <a:rPr lang="ja-JP" altLang="en-US" sz="2800" dirty="0"/>
              <a:t>日報の作成・閲覧・編集・削除</a:t>
            </a:r>
          </a:p>
          <a:p>
            <a:pPr lvl="1" defTabSz="914400" eaLnBrk="0" fontAlgn="base" hangingPunct="0">
              <a:spcAft>
                <a:spcPts val="1800"/>
              </a:spcAft>
            </a:pPr>
            <a:r>
              <a:rPr lang="ja-JP" altLang="en-US" sz="2800" dirty="0"/>
              <a:t>・</a:t>
            </a:r>
            <a:r>
              <a:rPr lang="en-US" altLang="ja-JP" sz="2800" dirty="0"/>
              <a:t>SOS</a:t>
            </a:r>
            <a:r>
              <a:rPr lang="ja-JP" altLang="en-US" sz="2800" dirty="0"/>
              <a:t>検知</a:t>
            </a:r>
            <a:r>
              <a:rPr lang="en-US" altLang="ja-JP" sz="2800" dirty="0"/>
              <a:t>: </a:t>
            </a:r>
            <a:r>
              <a:rPr lang="ja-JP" altLang="en-US" sz="2800" dirty="0"/>
              <a:t>コンディション「悪い」を自動抽出し、アラート表示</a:t>
            </a:r>
          </a:p>
          <a:p>
            <a:pPr lvl="1" defTabSz="914400" eaLnBrk="0" fontAlgn="base" hangingPunct="0">
              <a:spcAft>
                <a:spcPts val="1800"/>
              </a:spcAft>
            </a:pPr>
            <a:r>
              <a:rPr lang="ja-JP" altLang="en-US" sz="2800" dirty="0"/>
              <a:t>・ランキング</a:t>
            </a:r>
            <a:r>
              <a:rPr lang="en-US" altLang="ja-JP" sz="2800" dirty="0"/>
              <a:t>: </a:t>
            </a:r>
            <a:r>
              <a:rPr lang="ja-JP" altLang="en-US" sz="2800" dirty="0"/>
              <a:t>投稿数を集計し、貢献度をランキング化</a:t>
            </a:r>
          </a:p>
          <a:p>
            <a:pPr lvl="1" defTabSz="914400" eaLnBrk="0" fontAlgn="base" hangingPunct="0">
              <a:spcAft>
                <a:spcPts val="1800"/>
              </a:spcAft>
            </a:pPr>
            <a:r>
              <a:rPr lang="ja-JP" altLang="en-US" sz="2800" dirty="0"/>
              <a:t>・画像投稿</a:t>
            </a:r>
            <a:r>
              <a:rPr lang="en-US" altLang="ja-JP" sz="2800" dirty="0"/>
              <a:t>: </a:t>
            </a:r>
            <a:r>
              <a:rPr lang="ja-JP" altLang="en-US" sz="2800" dirty="0"/>
              <a:t>現場の状況を視覚的に共有</a:t>
            </a:r>
          </a:p>
          <a:p>
            <a:pPr lvl="0" defTabSz="914400" eaLnBrk="0" fontAlgn="base" hangingPunct="0">
              <a:spcAft>
                <a:spcPts val="1800"/>
              </a:spcAft>
            </a:pPr>
            <a:r>
              <a:rPr lang="ja-JP" altLang="en-US" sz="2800" dirty="0"/>
              <a:t>特徴</a:t>
            </a:r>
            <a:r>
              <a:rPr lang="en-US" altLang="ja-JP" sz="2800" dirty="0"/>
              <a:t>:</a:t>
            </a:r>
            <a:r>
              <a:rPr lang="ja-JP" altLang="en-US" sz="2800" dirty="0"/>
              <a:t>レスポンシブデザイン（スマホ対応）による場所を選ばない利用。</a:t>
            </a:r>
          </a:p>
        </p:txBody>
      </p:sp>
    </p:spTree>
    <p:extLst>
      <p:ext uri="{BB962C8B-B14F-4D97-AF65-F5344CB8AC3E}">
        <p14:creationId xmlns:p14="http://schemas.microsoft.com/office/powerpoint/2010/main" val="3501708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F84BA-8259-8102-C67B-51AA184C0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AD3FB28-7043-D537-1CB4-94D035BD336F}"/>
              </a:ext>
            </a:extLst>
          </p:cNvPr>
          <p:cNvSpPr txBox="1"/>
          <p:nvPr/>
        </p:nvSpPr>
        <p:spPr>
          <a:xfrm>
            <a:off x="1218177" y="630780"/>
            <a:ext cx="40959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システム構成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AFD2C1D-4997-ECA5-3150-730C0510519D}"/>
              </a:ext>
            </a:extLst>
          </p:cNvPr>
          <p:cNvSpPr txBox="1"/>
          <p:nvPr/>
        </p:nvSpPr>
        <p:spPr>
          <a:xfrm>
            <a:off x="406885" y="1874728"/>
            <a:ext cx="11378230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Web 3</a:t>
            </a:r>
            <a:r>
              <a:rPr lang="ja-JP" altLang="en-US" sz="2800" dirty="0"/>
              <a:t>層構造の採用</a:t>
            </a:r>
            <a:r>
              <a:rPr lang="en-US" altLang="ja-JP" sz="2800" dirty="0"/>
              <a:t>:</a:t>
            </a:r>
          </a:p>
          <a:p>
            <a:pPr lvl="1"/>
            <a:r>
              <a:rPr lang="en-US" altLang="ja-JP" sz="2800" dirty="0"/>
              <a:t>Web/App</a:t>
            </a:r>
            <a:r>
              <a:rPr lang="ja-JP" altLang="en-US" sz="2800" dirty="0"/>
              <a:t>層</a:t>
            </a:r>
            <a:r>
              <a:rPr lang="en-US" altLang="ja-JP" sz="2800" dirty="0"/>
              <a:t>: Django (Python) </a:t>
            </a:r>
            <a:r>
              <a:rPr lang="ja-JP" altLang="en-US" sz="2800" dirty="0"/>
              <a:t>コンテナ</a:t>
            </a:r>
          </a:p>
          <a:p>
            <a:pPr lvl="1"/>
            <a:r>
              <a:rPr lang="en-US" altLang="ja-JP" sz="2800" dirty="0"/>
              <a:t>DB</a:t>
            </a:r>
            <a:r>
              <a:rPr lang="ja-JP" altLang="en-US" sz="2800" dirty="0"/>
              <a:t>層</a:t>
            </a:r>
            <a:r>
              <a:rPr lang="en-US" altLang="ja-JP" sz="2800" dirty="0"/>
              <a:t>: PostgreSQL </a:t>
            </a:r>
            <a:r>
              <a:rPr lang="ja-JP" altLang="en-US" sz="2800" dirty="0"/>
              <a:t>コンテナ</a:t>
            </a:r>
          </a:p>
          <a:p>
            <a:pPr>
              <a:spcBef>
                <a:spcPts val="1800"/>
              </a:spcBef>
            </a:pPr>
            <a:r>
              <a:rPr lang="ja-JP" altLang="en-US" sz="2800" dirty="0"/>
              <a:t>データ永続化には</a:t>
            </a:r>
            <a:r>
              <a:rPr lang="en-US" altLang="ja-JP" sz="2800" dirty="0"/>
              <a:t>Docker Volume</a:t>
            </a:r>
            <a:r>
              <a:rPr lang="ja-JP" altLang="en-US" sz="2800" dirty="0"/>
              <a:t>を使用。</a:t>
            </a:r>
          </a:p>
          <a:p>
            <a:pPr>
              <a:spcBef>
                <a:spcPts val="1800"/>
              </a:spcBef>
            </a:pPr>
            <a:r>
              <a:rPr lang="ja-JP" altLang="en-US" sz="2800" dirty="0"/>
              <a:t>開発環境</a:t>
            </a:r>
            <a:r>
              <a:rPr lang="en-US" altLang="ja-JP" sz="2800" dirty="0"/>
              <a:t>: Docker Compose</a:t>
            </a:r>
            <a:r>
              <a:rPr lang="ja-JP" altLang="en-US" sz="2800" dirty="0"/>
              <a:t>による完全コンテナ化（</a:t>
            </a:r>
            <a:r>
              <a:rPr lang="en-US" altLang="ja-JP" sz="2800" dirty="0" err="1"/>
              <a:t>IaC</a:t>
            </a:r>
            <a:r>
              <a:rPr lang="ja-JP" altLang="en-US" sz="2800" dirty="0"/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3089862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2B0AE-8D13-7208-9A63-21C1B10F8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232601D-4B70-0C00-402A-4EF2C9DA5E13}"/>
              </a:ext>
            </a:extLst>
          </p:cNvPr>
          <p:cNvSpPr/>
          <p:nvPr/>
        </p:nvSpPr>
        <p:spPr>
          <a:xfrm>
            <a:off x="0" y="6307586"/>
            <a:ext cx="12192000" cy="5504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C665DF7-F6E8-80A2-6BF2-F411EE049DF2}"/>
              </a:ext>
            </a:extLst>
          </p:cNvPr>
          <p:cNvSpPr/>
          <p:nvPr/>
        </p:nvSpPr>
        <p:spPr>
          <a:xfrm>
            <a:off x="899160" y="1600093"/>
            <a:ext cx="10439400" cy="2386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 descr="ダイア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819A42DC-79C4-94A8-0EFB-45FFFFB537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726" y="108653"/>
            <a:ext cx="8420547" cy="664069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41EFB81-71E4-546E-FE95-EAA7DA5FF544}"/>
              </a:ext>
            </a:extLst>
          </p:cNvPr>
          <p:cNvSpPr txBox="1"/>
          <p:nvPr/>
        </p:nvSpPr>
        <p:spPr>
          <a:xfrm>
            <a:off x="0" y="142809"/>
            <a:ext cx="113782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dirty="0"/>
              <a:t>&lt;</a:t>
            </a:r>
            <a:r>
              <a:rPr lang="ja-JP" altLang="en-US" sz="3200" dirty="0"/>
              <a:t>システム構成図</a:t>
            </a:r>
            <a:r>
              <a:rPr lang="en-US" altLang="ja-JP" sz="3200" dirty="0"/>
              <a:t>&gt;</a:t>
            </a:r>
            <a:endParaRPr lang="ja-JP" altLang="en-US" sz="3200" dirty="0"/>
          </a:p>
        </p:txBody>
      </p:sp>
      <p:sp>
        <p:nvSpPr>
          <p:cNvPr id="14" name="吹き出し: 角を丸めた四角形 13">
            <a:extLst>
              <a:ext uri="{FF2B5EF4-FFF2-40B4-BE49-F238E27FC236}">
                <a16:creationId xmlns:a16="http://schemas.microsoft.com/office/drawing/2014/main" id="{37F6DD21-8A88-9204-D3DA-4B76A15EED3F}"/>
              </a:ext>
            </a:extLst>
          </p:cNvPr>
          <p:cNvSpPr/>
          <p:nvPr/>
        </p:nvSpPr>
        <p:spPr>
          <a:xfrm>
            <a:off x="10215447" y="4871948"/>
            <a:ext cx="1831605" cy="1287817"/>
          </a:xfrm>
          <a:prstGeom prst="wedgeRoundRectCallout">
            <a:avLst>
              <a:gd name="adj1" fmla="val -59940"/>
              <a:gd name="adj2" fmla="val 20490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1200" b="1" dirty="0"/>
              <a:t>データ永続化</a:t>
            </a:r>
            <a:r>
              <a:rPr lang="en-US" altLang="ja-JP" sz="1200" b="1" dirty="0"/>
              <a:t>:</a:t>
            </a:r>
            <a:r>
              <a:rPr lang="ja-JP" altLang="en-US" sz="1200" dirty="0"/>
              <a:t> </a:t>
            </a:r>
            <a:endParaRPr lang="en-US" altLang="ja-JP" sz="1200" dirty="0"/>
          </a:p>
          <a:p>
            <a:r>
              <a:rPr lang="en-US" altLang="ja-JP" sz="1200" dirty="0"/>
              <a:t>Docker Volumes</a:t>
            </a:r>
            <a:r>
              <a:rPr lang="ja-JP" altLang="en-US" sz="1200" dirty="0"/>
              <a:t>を使用し、コンテナを再起動してもデータが消えない構成を構築。</a:t>
            </a:r>
            <a:endParaRPr kumimoji="1" lang="ja-JP" altLang="en-US" sz="1200" dirty="0"/>
          </a:p>
        </p:txBody>
      </p:sp>
      <p:sp>
        <p:nvSpPr>
          <p:cNvPr id="13" name="吹き出し: 角を丸めた四角形 12">
            <a:extLst>
              <a:ext uri="{FF2B5EF4-FFF2-40B4-BE49-F238E27FC236}">
                <a16:creationId xmlns:a16="http://schemas.microsoft.com/office/drawing/2014/main" id="{D27D2171-5E7D-AC15-B953-D02A911BF994}"/>
              </a:ext>
            </a:extLst>
          </p:cNvPr>
          <p:cNvSpPr/>
          <p:nvPr/>
        </p:nvSpPr>
        <p:spPr>
          <a:xfrm>
            <a:off x="10401300" y="875405"/>
            <a:ext cx="1526016" cy="1926752"/>
          </a:xfrm>
          <a:prstGeom prst="wedgeRoundRectCallout">
            <a:avLst>
              <a:gd name="adj1" fmla="val -68359"/>
              <a:gd name="adj2" fmla="val -20329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200" b="1" dirty="0"/>
              <a:t>Web3</a:t>
            </a:r>
            <a:r>
              <a:rPr lang="ja-JP" altLang="en-US" sz="1200" b="1" dirty="0"/>
              <a:t>層構造</a:t>
            </a:r>
            <a:r>
              <a:rPr lang="en-US" altLang="ja-JP" sz="1200" b="1" dirty="0"/>
              <a:t>:</a:t>
            </a:r>
            <a:r>
              <a:rPr lang="ja-JP" altLang="en-US" sz="1200" dirty="0"/>
              <a:t> </a:t>
            </a:r>
            <a:endParaRPr lang="en-US" altLang="ja-JP" sz="1200" dirty="0"/>
          </a:p>
          <a:p>
            <a:r>
              <a:rPr lang="ja-JP" altLang="en-US" sz="1200" dirty="0"/>
              <a:t>「</a:t>
            </a:r>
            <a:r>
              <a:rPr lang="en-US" altLang="ja-JP" sz="1200" dirty="0"/>
              <a:t>Web</a:t>
            </a:r>
            <a:r>
              <a:rPr lang="ja-JP" altLang="en-US" sz="1200" dirty="0"/>
              <a:t>サーバー</a:t>
            </a:r>
            <a:r>
              <a:rPr lang="en-US" altLang="ja-JP" sz="1200" dirty="0"/>
              <a:t>/</a:t>
            </a:r>
            <a:r>
              <a:rPr lang="ja-JP" altLang="en-US" sz="1200" dirty="0"/>
              <a:t>アプリ</a:t>
            </a:r>
            <a:r>
              <a:rPr lang="en-US" altLang="ja-JP" sz="1200" dirty="0"/>
              <a:t>(Django)</a:t>
            </a:r>
            <a:r>
              <a:rPr lang="ja-JP" altLang="en-US" sz="1200" dirty="0"/>
              <a:t>」「</a:t>
            </a:r>
            <a:r>
              <a:rPr lang="en-US" altLang="ja-JP" sz="1200" dirty="0"/>
              <a:t>DB</a:t>
            </a:r>
            <a:r>
              <a:rPr lang="ja-JP" altLang="en-US" sz="1200" dirty="0"/>
              <a:t>サーバー</a:t>
            </a:r>
            <a:r>
              <a:rPr lang="en-US" altLang="ja-JP" sz="1200" dirty="0"/>
              <a:t>(PostgreSQL)</a:t>
            </a:r>
            <a:r>
              <a:rPr lang="ja-JP" altLang="en-US" sz="1200" dirty="0"/>
              <a:t>」を分離・連携。</a:t>
            </a:r>
            <a:endParaRPr kumimoji="1" lang="ja-JP" altLang="en-US" sz="1200" dirty="0"/>
          </a:p>
        </p:txBody>
      </p:sp>
      <p:sp>
        <p:nvSpPr>
          <p:cNvPr id="15" name="吹き出し: 角を丸めた四角形 14">
            <a:extLst>
              <a:ext uri="{FF2B5EF4-FFF2-40B4-BE49-F238E27FC236}">
                <a16:creationId xmlns:a16="http://schemas.microsoft.com/office/drawing/2014/main" id="{1B549A45-F381-4831-2E00-10EA262473CD}"/>
              </a:ext>
            </a:extLst>
          </p:cNvPr>
          <p:cNvSpPr/>
          <p:nvPr/>
        </p:nvSpPr>
        <p:spPr>
          <a:xfrm>
            <a:off x="2103120" y="1280159"/>
            <a:ext cx="1607820" cy="1668781"/>
          </a:xfrm>
          <a:prstGeom prst="wedgeRoundRectCallout">
            <a:avLst>
              <a:gd name="adj1" fmla="val 62973"/>
              <a:gd name="adj2" fmla="val 20375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1200" b="1" dirty="0"/>
              <a:t>外部公開</a:t>
            </a:r>
            <a:r>
              <a:rPr lang="en-US" altLang="ja-JP" sz="1200" b="1" dirty="0"/>
              <a:t>:</a:t>
            </a:r>
          </a:p>
          <a:p>
            <a:r>
              <a:rPr lang="ja-JP" altLang="en-US" sz="1200" dirty="0"/>
              <a:t>ホスト環境の</a:t>
            </a:r>
            <a:r>
              <a:rPr lang="en-US" altLang="ja-JP" sz="1200" dirty="0" err="1"/>
              <a:t>ngrok</a:t>
            </a:r>
            <a:r>
              <a:rPr lang="ja-JP" altLang="en-US" sz="1200" dirty="0"/>
              <a:t>を経由し、インターネット側からのリクエストを</a:t>
            </a:r>
            <a:r>
              <a:rPr lang="en-US" altLang="ja-JP" sz="1200" dirty="0"/>
              <a:t>Docker</a:t>
            </a:r>
            <a:r>
              <a:rPr lang="ja-JP" altLang="en-US" sz="1200" dirty="0"/>
              <a:t>コンテナ内のポート</a:t>
            </a:r>
            <a:r>
              <a:rPr lang="en-US" altLang="ja-JP" sz="1200" dirty="0"/>
              <a:t>8000</a:t>
            </a:r>
            <a:r>
              <a:rPr lang="ja-JP" altLang="en-US" sz="1200" dirty="0"/>
              <a:t>へ転送。</a:t>
            </a:r>
            <a:endParaRPr kumimoji="1"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18399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911E1-7A5C-F14C-8354-D44451D12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219CC3A-D341-28BF-8492-4A6BC24AB6EB}"/>
              </a:ext>
            </a:extLst>
          </p:cNvPr>
          <p:cNvSpPr txBox="1"/>
          <p:nvPr/>
        </p:nvSpPr>
        <p:spPr>
          <a:xfrm>
            <a:off x="1218177" y="630780"/>
            <a:ext cx="53623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データベース設計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164210B-6796-BB53-78FE-755C2399334A}"/>
              </a:ext>
            </a:extLst>
          </p:cNvPr>
          <p:cNvSpPr txBox="1"/>
          <p:nvPr/>
        </p:nvSpPr>
        <p:spPr>
          <a:xfrm>
            <a:off x="406885" y="1874728"/>
            <a:ext cx="1137823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ER</a:t>
            </a:r>
            <a:r>
              <a:rPr lang="ja-JP" altLang="en-US" sz="2800" dirty="0"/>
              <a:t>図の概要</a:t>
            </a:r>
            <a:r>
              <a:rPr lang="en-US" altLang="ja-JP" sz="2800" dirty="0"/>
              <a:t>:</a:t>
            </a:r>
          </a:p>
          <a:p>
            <a:pPr lvl="1"/>
            <a:r>
              <a:rPr lang="ja-JP" altLang="en-US" sz="2800" dirty="0"/>
              <a:t>ユーザー </a:t>
            </a:r>
            <a:r>
              <a:rPr lang="en-US" altLang="ja-JP" sz="2800" dirty="0"/>
              <a:t>(Users)</a:t>
            </a:r>
            <a:r>
              <a:rPr lang="ja-JP" altLang="en-US" sz="2800" dirty="0"/>
              <a:t>、日報 </a:t>
            </a:r>
            <a:r>
              <a:rPr lang="en-US" altLang="ja-JP" sz="2800" dirty="0"/>
              <a:t>(Reports)</a:t>
            </a:r>
            <a:r>
              <a:rPr lang="ja-JP" altLang="en-US" sz="2800" dirty="0"/>
              <a:t>、カテゴリー </a:t>
            </a:r>
            <a:r>
              <a:rPr lang="en-US" altLang="ja-JP" sz="2800" dirty="0"/>
              <a:t>(Categories) </a:t>
            </a:r>
            <a:r>
              <a:rPr lang="ja-JP" altLang="en-US" sz="2800" dirty="0"/>
              <a:t>を中心に設計。</a:t>
            </a:r>
          </a:p>
          <a:p>
            <a:pPr>
              <a:spcBef>
                <a:spcPts val="1800"/>
              </a:spcBef>
            </a:pPr>
            <a:r>
              <a:rPr lang="ja-JP" altLang="en-US" sz="2800" dirty="0"/>
              <a:t>設計のポイント</a:t>
            </a:r>
            <a:r>
              <a:rPr lang="en-US" altLang="ja-JP" sz="2800" dirty="0"/>
              <a:t>:</a:t>
            </a:r>
          </a:p>
          <a:p>
            <a:pPr lvl="1">
              <a:spcAft>
                <a:spcPts val="600"/>
              </a:spcAft>
            </a:pPr>
            <a:r>
              <a:rPr lang="ja-JP" altLang="en-US" sz="2800" dirty="0"/>
              <a:t>正規化</a:t>
            </a:r>
            <a:r>
              <a:rPr lang="en-US" altLang="ja-JP" sz="2800" dirty="0"/>
              <a:t>: </a:t>
            </a:r>
            <a:r>
              <a:rPr lang="ja-JP" altLang="en-US" sz="2800" dirty="0"/>
              <a:t>データの重複を防ぐため、カテゴリーやタグを別テーブル化。</a:t>
            </a:r>
          </a:p>
          <a:p>
            <a:pPr lvl="1"/>
            <a:r>
              <a:rPr lang="ja-JP" altLang="en-US" sz="2800" dirty="0"/>
              <a:t>多対多の解決</a:t>
            </a:r>
            <a:r>
              <a:rPr lang="en-US" altLang="ja-JP" sz="2800" dirty="0"/>
              <a:t>: </a:t>
            </a:r>
          </a:p>
          <a:p>
            <a:pPr lvl="2"/>
            <a:r>
              <a:rPr lang="ja-JP" altLang="en-US" sz="2800" dirty="0"/>
              <a:t>日報とタグの関係 </a:t>
            </a:r>
            <a:r>
              <a:rPr lang="en-US" altLang="ja-JP" sz="2800" dirty="0"/>
              <a:t>(Reports ⇔ Tags) </a:t>
            </a:r>
            <a:r>
              <a:rPr lang="ja-JP" altLang="en-US" sz="2800" dirty="0"/>
              <a:t>に中間テーブル </a:t>
            </a:r>
            <a:r>
              <a:rPr lang="en-US" altLang="ja-JP" sz="2800" dirty="0"/>
              <a:t>(</a:t>
            </a:r>
            <a:r>
              <a:rPr lang="en-US" altLang="ja-JP" sz="2800" dirty="0" err="1"/>
              <a:t>Report_Tags</a:t>
            </a:r>
            <a:r>
              <a:rPr lang="en-US" altLang="ja-JP" sz="2800" dirty="0"/>
              <a:t>) </a:t>
            </a:r>
            <a:r>
              <a:rPr lang="ja-JP" altLang="en-US" sz="2800" dirty="0"/>
              <a:t>を導入し、柔軟なタグ付けを実現。</a:t>
            </a:r>
            <a:endParaRPr lang="ja-JP" altLang="en-US" sz="2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98324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3C2DD-9F5A-7A02-91E5-453EF37DE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503EE92-681F-FDA3-B41B-976BC5F09793}"/>
              </a:ext>
            </a:extLst>
          </p:cNvPr>
          <p:cNvSpPr/>
          <p:nvPr/>
        </p:nvSpPr>
        <p:spPr>
          <a:xfrm>
            <a:off x="0" y="6307586"/>
            <a:ext cx="12192000" cy="5504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81A3112-D858-62F8-A385-FE78E1A5D39E}"/>
              </a:ext>
            </a:extLst>
          </p:cNvPr>
          <p:cNvSpPr/>
          <p:nvPr/>
        </p:nvSpPr>
        <p:spPr>
          <a:xfrm>
            <a:off x="899160" y="1600093"/>
            <a:ext cx="10439400" cy="2386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4F97F60-3E54-B6C1-1D60-87D2BDA85614}"/>
              </a:ext>
            </a:extLst>
          </p:cNvPr>
          <p:cNvSpPr txBox="1"/>
          <p:nvPr/>
        </p:nvSpPr>
        <p:spPr>
          <a:xfrm>
            <a:off x="406885" y="59293"/>
            <a:ext cx="113782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/>
              <a:t>&lt;ER</a:t>
            </a:r>
            <a:r>
              <a:rPr lang="ja-JP" altLang="en-US" sz="4000" dirty="0"/>
              <a:t>図</a:t>
            </a:r>
            <a:r>
              <a:rPr lang="en-US" altLang="ja-JP" sz="4000" dirty="0"/>
              <a:t>&gt;</a:t>
            </a:r>
            <a:endParaRPr lang="ja-JP" altLang="en-US" sz="4000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B8735DC-018F-15A7-2CB2-5E3DF29C6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6867" y="400553"/>
            <a:ext cx="7758266" cy="605689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068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E67F7-5A50-CA48-5B13-E258872A7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8CF9274-ECBF-CE59-861F-55E7EA94615A}"/>
              </a:ext>
            </a:extLst>
          </p:cNvPr>
          <p:cNvSpPr txBox="1"/>
          <p:nvPr/>
        </p:nvSpPr>
        <p:spPr>
          <a:xfrm>
            <a:off x="1218177" y="630780"/>
            <a:ext cx="94275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DB</a:t>
            </a:r>
            <a:r>
              <a:rPr kumimoji="1" lang="ja-JP" altLang="en-US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技術の活用① 集計と可視化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81CFBF5-4874-CBC1-2A6D-65E422795BF1}"/>
              </a:ext>
            </a:extLst>
          </p:cNvPr>
          <p:cNvSpPr txBox="1"/>
          <p:nvPr/>
        </p:nvSpPr>
        <p:spPr>
          <a:xfrm>
            <a:off x="406885" y="1874728"/>
            <a:ext cx="11378230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課題</a:t>
            </a:r>
            <a:r>
              <a:rPr lang="en-US" altLang="ja-JP" sz="2800" dirty="0"/>
              <a:t>: Python</a:t>
            </a:r>
            <a:r>
              <a:rPr lang="ja-JP" altLang="en-US" sz="2800" dirty="0"/>
              <a:t>のループ処理で集計すると遅い。</a:t>
            </a:r>
          </a:p>
          <a:p>
            <a:pPr>
              <a:spcBef>
                <a:spcPts val="1800"/>
              </a:spcBef>
            </a:pPr>
            <a:r>
              <a:rPr lang="ja-JP" altLang="en-US" sz="2800" dirty="0"/>
              <a:t>解決策</a:t>
            </a:r>
            <a:r>
              <a:rPr lang="en-US" altLang="ja-JP" sz="2800" dirty="0"/>
              <a:t>:</a:t>
            </a:r>
          </a:p>
          <a:p>
            <a:pPr lvl="1"/>
            <a:r>
              <a:rPr lang="ja-JP" altLang="en-US" sz="2800" dirty="0"/>
              <a:t>・データベースエンジン側での集計処理を採用。</a:t>
            </a:r>
            <a:endParaRPr lang="en-US" altLang="ja-JP" sz="2800" dirty="0"/>
          </a:p>
          <a:p>
            <a:pPr lvl="1"/>
            <a:r>
              <a:rPr lang="ja-JP" altLang="en-US" sz="2800" dirty="0"/>
              <a:t>・</a:t>
            </a:r>
            <a:r>
              <a:rPr lang="en-US" altLang="ja-JP" sz="2800" dirty="0"/>
              <a:t>Django</a:t>
            </a:r>
            <a:r>
              <a:rPr lang="ja-JP" altLang="en-US" sz="2800" dirty="0"/>
              <a:t>の </a:t>
            </a:r>
            <a:r>
              <a:rPr lang="en-US" altLang="ja-JP" sz="2800" dirty="0"/>
              <a:t>annotate </a:t>
            </a:r>
            <a:r>
              <a:rPr lang="ja-JP" altLang="en-US" sz="2800" dirty="0"/>
              <a:t>と </a:t>
            </a:r>
            <a:r>
              <a:rPr lang="en-US" altLang="ja-JP" sz="2800" dirty="0"/>
              <a:t>Count </a:t>
            </a:r>
            <a:r>
              <a:rPr lang="ja-JP" altLang="en-US" sz="2800" dirty="0"/>
              <a:t>関数を使用し、</a:t>
            </a:r>
            <a:r>
              <a:rPr lang="en-US" altLang="ja-JP" sz="2800" dirty="0"/>
              <a:t>SQL</a:t>
            </a:r>
            <a:r>
              <a:rPr lang="ja-JP" altLang="en-US" sz="2800" dirty="0"/>
              <a:t>の </a:t>
            </a:r>
            <a:r>
              <a:rPr lang="en-US" altLang="ja-JP" sz="2800" dirty="0"/>
              <a:t>GROUP BY </a:t>
            </a:r>
            <a:r>
              <a:rPr lang="ja-JP" altLang="en-US" sz="2800" dirty="0"/>
              <a:t>に相当する処理を実行。</a:t>
            </a:r>
          </a:p>
          <a:p>
            <a:pPr>
              <a:spcBef>
                <a:spcPts val="1800"/>
              </a:spcBef>
            </a:pPr>
            <a:r>
              <a:rPr lang="ja-JP" altLang="en-US" sz="2800" dirty="0"/>
              <a:t>実装機能</a:t>
            </a:r>
            <a:r>
              <a:rPr lang="en-US" altLang="ja-JP" sz="2800" dirty="0"/>
              <a:t>:</a:t>
            </a:r>
          </a:p>
          <a:p>
            <a:pPr lvl="1"/>
            <a:r>
              <a:rPr lang="ja-JP" altLang="en-US" sz="2800" dirty="0"/>
              <a:t>・ランキング機能</a:t>
            </a:r>
            <a:r>
              <a:rPr lang="en-US" altLang="ja-JP" sz="2800" dirty="0"/>
              <a:t>: </a:t>
            </a:r>
          </a:p>
          <a:p>
            <a:pPr lvl="2"/>
            <a:r>
              <a:rPr lang="ja-JP" altLang="en-US" sz="2800" dirty="0"/>
              <a:t>ユーザーごとの投稿数を</a:t>
            </a:r>
            <a:r>
              <a:rPr lang="en-US" altLang="ja-JP" sz="2800" dirty="0"/>
              <a:t>DB</a:t>
            </a:r>
            <a:r>
              <a:rPr lang="ja-JP" altLang="en-US" sz="2800" dirty="0"/>
              <a:t>側でカウントし、降順ソートして取得。</a:t>
            </a:r>
          </a:p>
          <a:p>
            <a:pPr lvl="1">
              <a:spcBef>
                <a:spcPts val="600"/>
              </a:spcBef>
            </a:pPr>
            <a:r>
              <a:rPr lang="ja-JP" altLang="en-US" sz="2800" dirty="0"/>
              <a:t>・</a:t>
            </a:r>
            <a:r>
              <a:rPr lang="en-US" altLang="ja-JP" sz="2800" dirty="0"/>
              <a:t>SOS</a:t>
            </a:r>
            <a:r>
              <a:rPr lang="ja-JP" altLang="en-US" sz="2800" dirty="0"/>
              <a:t>抽出</a:t>
            </a:r>
            <a:r>
              <a:rPr lang="en-US" altLang="ja-JP" sz="2800" dirty="0"/>
              <a:t>: filter(condition=1) </a:t>
            </a:r>
            <a:r>
              <a:rPr lang="ja-JP" altLang="en-US" sz="2800" dirty="0"/>
              <a:t>で</a:t>
            </a:r>
            <a:r>
              <a:rPr lang="en-US" altLang="ja-JP" sz="2800" dirty="0"/>
              <a:t>DB</a:t>
            </a:r>
            <a:r>
              <a:rPr lang="ja-JP" altLang="en-US" sz="2800" dirty="0"/>
              <a:t>側でフィルタリングし、高速に抽出。</a:t>
            </a:r>
            <a:endParaRPr lang="ja-JP" altLang="en-US" sz="2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49701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0A4F7-D4F7-F255-FE4C-2DE8CCEDE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DF3B8C4-1A07-5D13-E3D1-3DAE02D69A6A}"/>
              </a:ext>
            </a:extLst>
          </p:cNvPr>
          <p:cNvSpPr txBox="1"/>
          <p:nvPr/>
        </p:nvSpPr>
        <p:spPr>
          <a:xfrm>
            <a:off x="1218177" y="804224"/>
            <a:ext cx="953017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DB</a:t>
            </a:r>
            <a:r>
              <a:rPr kumimoji="1" lang="ja-JP" altLang="en-US" sz="4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技術の活用② パフォーマンス最適化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021B873-7D59-FC25-F2DE-3FCBDD51BC05}"/>
              </a:ext>
            </a:extLst>
          </p:cNvPr>
          <p:cNvSpPr txBox="1"/>
          <p:nvPr/>
        </p:nvSpPr>
        <p:spPr>
          <a:xfrm>
            <a:off x="406885" y="1898792"/>
            <a:ext cx="11378230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800" dirty="0">
                <a:latin typeface="Arial" panose="020B0604020202020204" pitchFamily="34" charset="0"/>
              </a:rPr>
              <a:t>直面した問題 </a:t>
            </a:r>
            <a:r>
              <a:rPr lang="en-US" altLang="ja-JP" sz="2800" dirty="0">
                <a:latin typeface="Arial" panose="020B0604020202020204" pitchFamily="34" charset="0"/>
              </a:rPr>
              <a:t>(N+1</a:t>
            </a:r>
            <a:r>
              <a:rPr lang="ja-JP" altLang="en-US" sz="2800" dirty="0">
                <a:latin typeface="Arial" panose="020B0604020202020204" pitchFamily="34" charset="0"/>
              </a:rPr>
              <a:t>問題</a:t>
            </a:r>
            <a:r>
              <a:rPr lang="en-US" altLang="ja-JP" sz="2800" dirty="0">
                <a:latin typeface="Arial" panose="020B0604020202020204" pitchFamily="34" charset="0"/>
              </a:rPr>
              <a:t>):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800" dirty="0">
                <a:latin typeface="Arial" panose="020B0604020202020204" pitchFamily="34" charset="0"/>
              </a:rPr>
              <a:t>一覧画面表示時に、記事数分の</a:t>
            </a:r>
            <a:r>
              <a:rPr lang="en-US" altLang="ja-JP" sz="2800" dirty="0">
                <a:latin typeface="Arial" panose="020B0604020202020204" pitchFamily="34" charset="0"/>
              </a:rPr>
              <a:t>SQL</a:t>
            </a:r>
            <a:r>
              <a:rPr lang="ja-JP" altLang="en-US" sz="2800" dirty="0">
                <a:latin typeface="Arial" panose="020B0604020202020204" pitchFamily="34" charset="0"/>
              </a:rPr>
              <a:t>（ユーザー情報取得など）が発行され、動作が重くなる可能性があった。</a:t>
            </a:r>
          </a:p>
          <a:p>
            <a:pPr lvl="0" defTabSz="914400" eaLnBrk="0" fontAlgn="base" hangingPunct="0">
              <a:spcBef>
                <a:spcPts val="1800"/>
              </a:spcBef>
              <a:spcAft>
                <a:spcPct val="0"/>
              </a:spcAft>
            </a:pPr>
            <a:r>
              <a:rPr lang="ja-JP" altLang="en-US" sz="2800" dirty="0">
                <a:latin typeface="Arial" panose="020B0604020202020204" pitchFamily="34" charset="0"/>
              </a:rPr>
              <a:t>解決策</a:t>
            </a:r>
            <a:r>
              <a:rPr lang="en-US" altLang="ja-JP" sz="2800" dirty="0">
                <a:latin typeface="Arial" panose="020B0604020202020204" pitchFamily="34" charset="0"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800" dirty="0">
                <a:latin typeface="Arial" panose="020B0604020202020204" pitchFamily="34" charset="0"/>
              </a:rPr>
              <a:t>・</a:t>
            </a:r>
            <a:r>
              <a:rPr lang="en-US" altLang="ja-JP" sz="2800" dirty="0">
                <a:latin typeface="Arial" panose="020B0604020202020204" pitchFamily="34" charset="0"/>
              </a:rPr>
              <a:t>Eager Loading (</a:t>
            </a:r>
            <a:r>
              <a:rPr lang="ja-JP" altLang="en-US" sz="2800" dirty="0">
                <a:latin typeface="Arial" panose="020B0604020202020204" pitchFamily="34" charset="0"/>
              </a:rPr>
              <a:t>事前読み込み</a:t>
            </a:r>
            <a:r>
              <a:rPr lang="en-US" altLang="ja-JP" sz="2800" dirty="0">
                <a:latin typeface="Arial" panose="020B0604020202020204" pitchFamily="34" charset="0"/>
              </a:rPr>
              <a:t>) </a:t>
            </a:r>
            <a:r>
              <a:rPr lang="ja-JP" altLang="en-US" sz="2800" dirty="0">
                <a:latin typeface="Arial" panose="020B0604020202020204" pitchFamily="34" charset="0"/>
              </a:rPr>
              <a:t>の実装。</a:t>
            </a:r>
          </a:p>
          <a:p>
            <a:pPr lvl="1"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ja-JP" altLang="en-US" sz="2800" dirty="0">
                <a:latin typeface="Arial" panose="020B0604020202020204" pitchFamily="34" charset="0"/>
              </a:rPr>
              <a:t>・</a:t>
            </a:r>
            <a:r>
              <a:rPr lang="en-US" altLang="ja-JP" sz="2800" dirty="0" err="1">
                <a:latin typeface="Arial" panose="020B0604020202020204" pitchFamily="34" charset="0"/>
              </a:rPr>
              <a:t>select_related</a:t>
            </a:r>
            <a:r>
              <a:rPr lang="ja-JP" altLang="en-US" sz="2800" dirty="0">
                <a:latin typeface="Arial" panose="020B0604020202020204" pitchFamily="34" charset="0"/>
              </a:rPr>
              <a:t>（外部キー結合）と </a:t>
            </a:r>
            <a:r>
              <a:rPr lang="en-US" altLang="ja-JP" sz="2800" dirty="0" err="1">
                <a:latin typeface="Arial" panose="020B0604020202020204" pitchFamily="34" charset="0"/>
              </a:rPr>
              <a:t>prefetch_related</a:t>
            </a:r>
            <a:r>
              <a:rPr lang="ja-JP" altLang="en-US" sz="2800" dirty="0">
                <a:latin typeface="Arial" panose="020B0604020202020204" pitchFamily="34" charset="0"/>
              </a:rPr>
              <a:t>（多対多結合）を使用。</a:t>
            </a:r>
          </a:p>
          <a:p>
            <a:pPr lvl="0" defTabSz="914400" eaLnBrk="0" fontAlgn="base" hangingPunct="0">
              <a:spcBef>
                <a:spcPts val="1800"/>
              </a:spcBef>
              <a:spcAft>
                <a:spcPct val="0"/>
              </a:spcAft>
            </a:pPr>
            <a:r>
              <a:rPr lang="ja-JP" altLang="en-US" sz="2800" dirty="0">
                <a:latin typeface="Arial" panose="020B0604020202020204" pitchFamily="34" charset="0"/>
              </a:rPr>
              <a:t>成果</a:t>
            </a:r>
            <a:r>
              <a:rPr lang="en-US" altLang="ja-JP" sz="2800" dirty="0">
                <a:latin typeface="Arial" panose="020B0604020202020204" pitchFamily="34" charset="0"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ja-JP" sz="2800" dirty="0">
                <a:latin typeface="Arial" panose="020B0604020202020204" pitchFamily="34" charset="0"/>
              </a:rPr>
              <a:t>SQL</a:t>
            </a:r>
            <a:r>
              <a:rPr lang="ja-JP" altLang="en-US" sz="2800" dirty="0">
                <a:latin typeface="Arial" panose="020B0604020202020204" pitchFamily="34" charset="0"/>
              </a:rPr>
              <a:t>の発行回数を劇的に削減し、レスポンス速度を向上。</a:t>
            </a:r>
            <a:br>
              <a:rPr lang="ja-JP" altLang="en-US" sz="2800" dirty="0"/>
            </a:br>
            <a:endParaRPr lang="ja-JP" altLang="ja-JP" sz="2800" dirty="0"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21F38E-FC86-E865-A6BA-7C7278C8B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890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DDFCD-F78C-0C53-6B10-E522FFA13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482EF07-3D1D-6BE2-DF29-2D6D4F21DC77}"/>
              </a:ext>
            </a:extLst>
          </p:cNvPr>
          <p:cNvSpPr txBox="1"/>
          <p:nvPr/>
        </p:nvSpPr>
        <p:spPr>
          <a:xfrm>
            <a:off x="1218177" y="804224"/>
            <a:ext cx="929773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DB</a:t>
            </a:r>
            <a:r>
              <a:rPr kumimoji="1" lang="ja-JP" altLang="en-US" sz="4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技術の活用③ トランザクション管理</a:t>
            </a:r>
            <a:endParaRPr kumimoji="1" lang="en-US" altLang="ja-JP" sz="4400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84ACE51-DAA5-4FD1-9B09-C15A9E146BD6}"/>
              </a:ext>
            </a:extLst>
          </p:cNvPr>
          <p:cNvSpPr txBox="1"/>
          <p:nvPr/>
        </p:nvSpPr>
        <p:spPr>
          <a:xfrm>
            <a:off x="406885" y="1898792"/>
            <a:ext cx="11378230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800" dirty="0">
                <a:latin typeface="Arial" panose="020B0604020202020204" pitchFamily="34" charset="0"/>
              </a:rPr>
              <a:t>活用シーン</a:t>
            </a:r>
            <a:r>
              <a:rPr lang="en-US" altLang="ja-JP" sz="2800" dirty="0">
                <a:latin typeface="Arial" panose="020B0604020202020204" pitchFamily="34" charset="0"/>
              </a:rPr>
              <a:t>:</a:t>
            </a:r>
            <a:r>
              <a:rPr lang="ja-JP" altLang="en-US" sz="2800" dirty="0">
                <a:latin typeface="Arial" panose="020B0604020202020204" pitchFamily="34" charset="0"/>
              </a:rPr>
              <a:t>日報を新規投稿する処理。</a:t>
            </a:r>
          </a:p>
          <a:p>
            <a:pPr lvl="0" defTabSz="914400" eaLnBrk="0" fontAlgn="base" hangingPunct="0">
              <a:spcBef>
                <a:spcPts val="1800"/>
              </a:spcBef>
              <a:spcAft>
                <a:spcPct val="0"/>
              </a:spcAft>
            </a:pPr>
            <a:r>
              <a:rPr lang="ja-JP" altLang="en-US" sz="2800" dirty="0">
                <a:latin typeface="Arial" panose="020B0604020202020204" pitchFamily="34" charset="0"/>
              </a:rPr>
              <a:t>内容</a:t>
            </a:r>
            <a:r>
              <a:rPr lang="en-US" altLang="ja-JP" sz="2800" dirty="0">
                <a:latin typeface="Arial" panose="020B0604020202020204" pitchFamily="34" charset="0"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800" dirty="0">
                <a:latin typeface="Arial" panose="020B0604020202020204" pitchFamily="34" charset="0"/>
              </a:rPr>
              <a:t>本アプリでは正規化の観点から、「日報本体（タイトル・よもやま話）」と「業務トピック（箇条書き部分）」を別テーブルに分割しています。投稿時にはこれらへの </a:t>
            </a:r>
            <a:r>
              <a:rPr lang="en-US" altLang="ja-JP" sz="2800" dirty="0">
                <a:latin typeface="Arial" panose="020B0604020202020204" pitchFamily="34" charset="0"/>
              </a:rPr>
              <a:t>INSERT </a:t>
            </a:r>
            <a:r>
              <a:rPr lang="ja-JP" altLang="en-US" sz="2800" dirty="0">
                <a:latin typeface="Arial" panose="020B0604020202020204" pitchFamily="34" charset="0"/>
              </a:rPr>
              <a:t>処理が連続して発生しますが、これを単一のトランザクションとして実行しています。</a:t>
            </a:r>
            <a:endParaRPr lang="ja-JP" altLang="ja-JP" sz="2800" dirty="0"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53E9ED-CE62-6125-346F-31F4BDF2D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30283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9E41A-4002-79F0-ED58-DC094E3C5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155F4DA-1D50-60AD-2630-83734B21D5DF}"/>
              </a:ext>
            </a:extLst>
          </p:cNvPr>
          <p:cNvSpPr txBox="1"/>
          <p:nvPr/>
        </p:nvSpPr>
        <p:spPr>
          <a:xfrm>
            <a:off x="1218177" y="804224"/>
            <a:ext cx="935384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DB</a:t>
            </a:r>
            <a:r>
              <a:rPr kumimoji="1" lang="ja-JP" altLang="en-US" sz="4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技術の活用④ 正規化とリレーション</a:t>
            </a:r>
            <a:endParaRPr kumimoji="1" lang="en-US" altLang="ja-JP" sz="4400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639AED8-2C84-5C4B-5957-75CD4616C2FE}"/>
              </a:ext>
            </a:extLst>
          </p:cNvPr>
          <p:cNvSpPr txBox="1"/>
          <p:nvPr/>
        </p:nvSpPr>
        <p:spPr>
          <a:xfrm>
            <a:off x="406885" y="1898792"/>
            <a:ext cx="1137823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800" dirty="0">
                <a:latin typeface="Arial" panose="020B0604020202020204" pitchFamily="34" charset="0"/>
              </a:rPr>
              <a:t>活用シーン</a:t>
            </a:r>
            <a:r>
              <a:rPr lang="en-US" altLang="ja-JP" sz="2800" dirty="0">
                <a:latin typeface="Arial" panose="020B0604020202020204" pitchFamily="34" charset="0"/>
              </a:rPr>
              <a:t>:</a:t>
            </a:r>
            <a:r>
              <a:rPr lang="ja-JP" altLang="en-US" sz="2800" dirty="0">
                <a:latin typeface="Arial" panose="020B0604020202020204" pitchFamily="34" charset="0"/>
              </a:rPr>
              <a:t>日報データの構造化。</a:t>
            </a:r>
            <a:endParaRPr lang="en-US" altLang="ja-JP" sz="28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800" dirty="0">
                <a:latin typeface="Arial" panose="020B0604020202020204" pitchFamily="34" charset="0"/>
              </a:rPr>
              <a:t>内容</a:t>
            </a:r>
            <a:r>
              <a:rPr lang="en-US" altLang="ja-JP" sz="2800" dirty="0">
                <a:latin typeface="Arial" panose="020B0604020202020204" pitchFamily="34" charset="0"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ja-JP" sz="2800" dirty="0">
                <a:latin typeface="Arial" panose="020B0604020202020204" pitchFamily="34" charset="0"/>
              </a:rPr>
              <a:t>1</a:t>
            </a:r>
            <a:r>
              <a:rPr lang="ja-JP" altLang="en-US" sz="2800" dirty="0">
                <a:latin typeface="Arial" panose="020B0604020202020204" pitchFamily="34" charset="0"/>
              </a:rPr>
              <a:t>つの日報に対して複数のトピックが存在するため、</a:t>
            </a:r>
            <a:r>
              <a:rPr lang="en-US" altLang="ja-JP" sz="2800" dirty="0">
                <a:latin typeface="Arial" panose="020B0604020202020204" pitchFamily="34" charset="0"/>
              </a:rPr>
              <a:t>Reports </a:t>
            </a:r>
            <a:r>
              <a:rPr lang="ja-JP" altLang="en-US" sz="2800" dirty="0">
                <a:latin typeface="Arial" panose="020B0604020202020204" pitchFamily="34" charset="0"/>
              </a:rPr>
              <a:t>テーブルと </a:t>
            </a:r>
            <a:r>
              <a:rPr lang="en-US" altLang="ja-JP" sz="2800" dirty="0" err="1">
                <a:latin typeface="Arial" panose="020B0604020202020204" pitchFamily="34" charset="0"/>
              </a:rPr>
              <a:t>ReportTopics</a:t>
            </a:r>
            <a:r>
              <a:rPr lang="en-US" altLang="ja-JP" sz="2800" dirty="0">
                <a:latin typeface="Arial" panose="020B0604020202020204" pitchFamily="34" charset="0"/>
              </a:rPr>
              <a:t> </a:t>
            </a:r>
            <a:r>
              <a:rPr lang="ja-JP" altLang="en-US" sz="2800" dirty="0">
                <a:latin typeface="Arial" panose="020B0604020202020204" pitchFamily="34" charset="0"/>
              </a:rPr>
              <a:t>テーブルを分離し、</a:t>
            </a:r>
            <a:r>
              <a:rPr lang="en-US" altLang="ja-JP" sz="2800" dirty="0">
                <a:latin typeface="Arial" panose="020B0604020202020204" pitchFamily="34" charset="0"/>
              </a:rPr>
              <a:t>1</a:t>
            </a:r>
            <a:r>
              <a:rPr lang="ja-JP" altLang="en-US" sz="2800" dirty="0">
                <a:latin typeface="Arial" panose="020B0604020202020204" pitchFamily="34" charset="0"/>
              </a:rPr>
              <a:t>対多 </a:t>
            </a:r>
            <a:r>
              <a:rPr lang="en-US" altLang="ja-JP" sz="2800" dirty="0">
                <a:latin typeface="Arial" panose="020B0604020202020204" pitchFamily="34" charset="0"/>
              </a:rPr>
              <a:t>(One-to-Many) </a:t>
            </a:r>
            <a:r>
              <a:rPr lang="ja-JP" altLang="en-US" sz="2800" dirty="0">
                <a:latin typeface="Arial" panose="020B0604020202020204" pitchFamily="34" charset="0"/>
              </a:rPr>
              <a:t>のリレーションを構築しました。</a:t>
            </a:r>
            <a:endParaRPr lang="ja-JP" altLang="ja-JP" sz="2800" dirty="0"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04B146-855E-353B-F1E6-1EE58FD5B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510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60118-1A52-BB9A-F3D9-1C6035DAA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BC2F44C-5271-064B-54EC-D522374270EF}"/>
              </a:ext>
            </a:extLst>
          </p:cNvPr>
          <p:cNvSpPr txBox="1"/>
          <p:nvPr/>
        </p:nvSpPr>
        <p:spPr>
          <a:xfrm>
            <a:off x="1218177" y="630780"/>
            <a:ext cx="49696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検索機能の実装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5D23F5A-03B9-4951-04EB-0C808928F598}"/>
              </a:ext>
            </a:extLst>
          </p:cNvPr>
          <p:cNvSpPr txBox="1"/>
          <p:nvPr/>
        </p:nvSpPr>
        <p:spPr>
          <a:xfrm>
            <a:off x="406885" y="1898792"/>
            <a:ext cx="1137823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800" dirty="0">
                <a:latin typeface="Arial" panose="020B0604020202020204" pitchFamily="34" charset="0"/>
              </a:rPr>
              <a:t>要件</a:t>
            </a:r>
            <a:r>
              <a:rPr lang="en-US" altLang="ja-JP" sz="2800" dirty="0">
                <a:latin typeface="Arial" panose="020B0604020202020204" pitchFamily="34" charset="0"/>
              </a:rPr>
              <a:t>: </a:t>
            </a:r>
            <a:r>
              <a:rPr lang="ja-JP" altLang="en-US" sz="2800" dirty="0">
                <a:latin typeface="Arial" panose="020B0604020202020204" pitchFamily="34" charset="0"/>
              </a:rPr>
              <a:t>タイトルだけでなく、本文も含めたあいまい検索。</a:t>
            </a:r>
          </a:p>
          <a:p>
            <a:pPr lvl="0" defTabSz="914400" eaLnBrk="0" fontAlgn="base" hangingPunct="0">
              <a:spcBef>
                <a:spcPts val="1800"/>
              </a:spcBef>
              <a:spcAft>
                <a:spcPct val="0"/>
              </a:spcAft>
            </a:pPr>
            <a:r>
              <a:rPr lang="ja-JP" altLang="en-US" sz="2800" dirty="0">
                <a:latin typeface="Arial" panose="020B0604020202020204" pitchFamily="34" charset="0"/>
              </a:rPr>
              <a:t>実装</a:t>
            </a:r>
            <a:r>
              <a:rPr lang="en-US" altLang="ja-JP" sz="2800" dirty="0">
                <a:latin typeface="Arial" panose="020B0604020202020204" pitchFamily="34" charset="0"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ja-JP" sz="2800" dirty="0">
                <a:latin typeface="Arial" panose="020B0604020202020204" pitchFamily="34" charset="0"/>
              </a:rPr>
              <a:t>Q</a:t>
            </a:r>
            <a:r>
              <a:rPr lang="ja-JP" altLang="en-US" sz="2800" dirty="0">
                <a:latin typeface="Arial" panose="020B0604020202020204" pitchFamily="34" charset="0"/>
              </a:rPr>
              <a:t>オブジェクト（</a:t>
            </a:r>
            <a:r>
              <a:rPr lang="en-US" altLang="ja-JP" sz="2800" dirty="0">
                <a:latin typeface="Arial" panose="020B0604020202020204" pitchFamily="34" charset="0"/>
              </a:rPr>
              <a:t>SQL</a:t>
            </a:r>
            <a:r>
              <a:rPr lang="ja-JP" altLang="en-US" sz="2800" dirty="0">
                <a:latin typeface="Arial" panose="020B0604020202020204" pitchFamily="34" charset="0"/>
              </a:rPr>
              <a:t>の </a:t>
            </a:r>
            <a:r>
              <a:rPr lang="en-US" altLang="ja-JP" sz="2800" dirty="0">
                <a:latin typeface="Arial" panose="020B0604020202020204" pitchFamily="34" charset="0"/>
              </a:rPr>
              <a:t>OR </a:t>
            </a:r>
            <a:r>
              <a:rPr lang="ja-JP" altLang="en-US" sz="2800" dirty="0">
                <a:latin typeface="Arial" panose="020B0604020202020204" pitchFamily="34" charset="0"/>
              </a:rPr>
              <a:t>演算子）を使用。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ja-JP" sz="2800" dirty="0">
                <a:latin typeface="Arial" panose="020B0604020202020204" pitchFamily="34" charset="0"/>
              </a:rPr>
              <a:t>WHERE (title LIKE '%keyword%' OR content LIKE '%keyword%') </a:t>
            </a:r>
            <a:r>
              <a:rPr lang="ja-JP" altLang="en-US" sz="2800" dirty="0">
                <a:latin typeface="Arial" panose="020B0604020202020204" pitchFamily="34" charset="0"/>
              </a:rPr>
              <a:t>に相当するクエリを発行。</a:t>
            </a:r>
          </a:p>
          <a:p>
            <a:pPr lvl="0" defTabSz="914400" eaLnBrk="0" fontAlgn="base" hangingPunct="0">
              <a:spcBef>
                <a:spcPts val="1800"/>
              </a:spcBef>
              <a:spcAft>
                <a:spcPct val="0"/>
              </a:spcAft>
            </a:pPr>
            <a:r>
              <a:rPr lang="ja-JP" altLang="en-US" sz="2800" dirty="0">
                <a:latin typeface="Arial" panose="020B0604020202020204" pitchFamily="34" charset="0"/>
              </a:rPr>
              <a:t>ユーザビリティ</a:t>
            </a:r>
            <a:r>
              <a:rPr lang="en-US" altLang="ja-JP" sz="2800" dirty="0">
                <a:latin typeface="Arial" panose="020B0604020202020204" pitchFamily="34" charset="0"/>
              </a:rPr>
              <a:t>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sz="2800" dirty="0">
                <a:latin typeface="Arial" panose="020B0604020202020204" pitchFamily="34" charset="0"/>
              </a:rPr>
              <a:t>カテゴリー絞り込みとの</a:t>
            </a:r>
            <a:r>
              <a:rPr lang="en-US" altLang="ja-JP" sz="2800" dirty="0">
                <a:latin typeface="Arial" panose="020B0604020202020204" pitchFamily="34" charset="0"/>
              </a:rPr>
              <a:t>AND</a:t>
            </a:r>
            <a:r>
              <a:rPr lang="ja-JP" altLang="en-US" sz="2800" dirty="0">
                <a:latin typeface="Arial" panose="020B0604020202020204" pitchFamily="34" charset="0"/>
              </a:rPr>
              <a:t>検索も併用可能にし、過去のナレッジ検索を容易にした。</a:t>
            </a:r>
            <a:br>
              <a:rPr lang="ja-JP" altLang="en-US" sz="2800" dirty="0"/>
            </a:br>
            <a:endParaRPr lang="ja-JP" altLang="ja-JP" sz="2800" dirty="0"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58BEC5-03FB-92CB-3289-8DC6DB6DE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67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4C8F0-0FBF-BD32-CBB8-189E92AC5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EB42A6A-24AD-4424-C424-24487F1D5F9A}"/>
              </a:ext>
            </a:extLst>
          </p:cNvPr>
          <p:cNvSpPr txBox="1"/>
          <p:nvPr/>
        </p:nvSpPr>
        <p:spPr>
          <a:xfrm>
            <a:off x="1218177" y="630780"/>
            <a:ext cx="53158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デモ</a:t>
            </a:r>
            <a:r>
              <a:rPr kumimoji="1" lang="en-US" altLang="ja-JP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/</a:t>
            </a:r>
            <a:r>
              <a:rPr kumimoji="1" lang="ja-JP" altLang="en-US" sz="54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実際の画面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AAE84A-23E3-EB5A-DA2E-889826FCF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図 5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18B41266-C26E-3B4B-B08A-991D584B3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10" y="1897473"/>
            <a:ext cx="2803713" cy="24558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図 9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50ADEA72-11C0-3606-6AB9-290233B84E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4620" y="3835688"/>
            <a:ext cx="2803713" cy="26288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図 11" descr="グラフィカル ユーザー インターフェイス, アプリケーション, Web サイト&#10;&#10;AI 生成コンテンツは誤りを含む可能性があります。">
            <a:extLst>
              <a:ext uri="{FF2B5EF4-FFF2-40B4-BE49-F238E27FC236}">
                <a16:creationId xmlns:a16="http://schemas.microsoft.com/office/drawing/2014/main" id="{9593C163-08A5-0FEC-570A-86121E01EB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8333" y="1724545"/>
            <a:ext cx="3928484" cy="26288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図 7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CC6E061C-1C10-E221-76C8-D205BCD4C4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0722" y="3937749"/>
            <a:ext cx="3453316" cy="25267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70879617"/>
      </p:ext>
    </p:extLst>
  </p:cSld>
  <p:clrMapOvr>
    <a:masterClrMapping/>
  </p:clrMapOvr>
</p:sld>
</file>

<file path=ppt/theme/theme1.xml><?xml version="1.0" encoding="utf-8"?>
<a:theme xmlns:a="http://schemas.openxmlformats.org/drawingml/2006/main" name="レトロスペクト">
  <a:themeElements>
    <a:clrScheme name="レトロスペクト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レトロスペク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レトロスペクト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75</TotalTime>
  <Words>815</Words>
  <Application>Microsoft Office PowerPoint</Application>
  <PresentationFormat>ワイド画面</PresentationFormat>
  <Paragraphs>80</Paragraphs>
  <Slides>14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21" baseType="lpstr">
      <vt:lpstr>HGP創英角ﾎﾟｯﾌﾟ体</vt:lpstr>
      <vt:lpstr>ＭＳ ゴシック</vt:lpstr>
      <vt:lpstr>游ゴシック</vt:lpstr>
      <vt:lpstr>Arial</vt:lpstr>
      <vt:lpstr>Calibri</vt:lpstr>
      <vt:lpstr>Calibri Light</vt:lpstr>
      <vt:lpstr>レトロスペクト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g2442102/渡邉 諒</dc:creator>
  <cp:lastModifiedBy>g2442102/渡邉 諒</cp:lastModifiedBy>
  <cp:revision>39</cp:revision>
  <dcterms:created xsi:type="dcterms:W3CDTF">2025-12-19T01:33:25Z</dcterms:created>
  <dcterms:modified xsi:type="dcterms:W3CDTF">2026-01-05T10:58:08Z</dcterms:modified>
</cp:coreProperties>
</file>