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9" r:id="rId4"/>
    <p:sldId id="270" r:id="rId5"/>
    <p:sldId id="268" r:id="rId6"/>
    <p:sldId id="258" r:id="rId7"/>
    <p:sldId id="27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65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11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E794E-DFDF-411D-BABB-3ADDCA9ED3A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6696E-A14C-4A9B-8C6D-4F83F4C504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3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6696E-A14C-4A9B-8C6D-4F83F4C5040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083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2FD0D-79FC-9D32-E83E-56E04B6B2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EC00F68-304F-36A0-9C01-9A9448B39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8D0931D-39EA-1B9E-9DDA-EE4B8E50E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E0FC47-4756-9B4A-0E9A-615C97E64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6696E-A14C-4A9B-8C6D-4F83F4C5040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4773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A3ADE-1423-0CF9-C4FF-B8BB4F5A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96B660D-658B-524C-2D81-1AF52B205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D4BB75F-9F8C-4B0B-8F78-025164264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9D9EE8-5FFA-CB33-2B3E-A6D6FAD06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6696E-A14C-4A9B-8C6D-4F83F4C5040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8966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07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5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0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6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10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49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2EFEB2A-D862-411E-963D-25B6AA0AED8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19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8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2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56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2EFEB2A-D862-411E-963D-25B6AA0AED80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41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D270DE-BF57-EAAA-9B62-3935430BA877}"/>
              </a:ext>
            </a:extLst>
          </p:cNvPr>
          <p:cNvSpPr txBox="1"/>
          <p:nvPr/>
        </p:nvSpPr>
        <p:spPr>
          <a:xfrm>
            <a:off x="5334413" y="2856952"/>
            <a:ext cx="1523174" cy="1144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ja-JP" sz="54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DBA</a:t>
            </a:r>
            <a:endParaRPr kumimoji="1" lang="ja-JP" altLang="en-US" sz="3200" b="1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504F19-AB7E-AD73-461D-CC4095005594}"/>
              </a:ext>
            </a:extLst>
          </p:cNvPr>
          <p:cNvSpPr txBox="1"/>
          <p:nvPr/>
        </p:nvSpPr>
        <p:spPr>
          <a:xfrm>
            <a:off x="128337" y="5650832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チームメンバー：渡邉諒 </a:t>
            </a:r>
            <a:r>
              <a:rPr kumimoji="1"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(2442102)</a:t>
            </a:r>
            <a:r>
              <a:rPr kumimoji="1"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・田中誠真 </a:t>
            </a:r>
            <a:r>
              <a:rPr kumimoji="1"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(2442054)</a:t>
            </a:r>
            <a:endParaRPr kumimoji="1" lang="ja-JP" alt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582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DF0D4F-5C7A-0C73-FF31-23122D0E3251}"/>
              </a:ext>
            </a:extLst>
          </p:cNvPr>
          <p:cNvSpPr txBox="1"/>
          <p:nvPr/>
        </p:nvSpPr>
        <p:spPr>
          <a:xfrm>
            <a:off x="1202135" y="676763"/>
            <a:ext cx="89627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 データベース環境と選定理由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657DC8-50D6-A289-BEB4-4A097DB1EF3D}"/>
              </a:ext>
            </a:extLst>
          </p:cNvPr>
          <p:cNvSpPr txBox="1"/>
          <p:nvPr/>
        </p:nvSpPr>
        <p:spPr>
          <a:xfrm>
            <a:off x="406885" y="2103328"/>
            <a:ext cx="1137823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採用技術</a:t>
            </a:r>
            <a:r>
              <a:rPr lang="en-US" altLang="ja-JP" sz="2800" dirty="0"/>
              <a:t>:</a:t>
            </a:r>
          </a:p>
          <a:p>
            <a:pPr lvl="1"/>
            <a:r>
              <a:rPr lang="en-US" altLang="ja-JP" sz="2800" dirty="0"/>
              <a:t>DBMS: PostgreSQL 15.x</a:t>
            </a:r>
          </a:p>
          <a:p>
            <a:pPr lvl="1">
              <a:spcAft>
                <a:spcPts val="1200"/>
              </a:spcAft>
            </a:pPr>
            <a:r>
              <a:rPr lang="ja-JP" altLang="en-US" sz="2800" dirty="0"/>
              <a:t>インフラ</a:t>
            </a:r>
            <a:r>
              <a:rPr lang="en-US" altLang="ja-JP" sz="2800" dirty="0"/>
              <a:t>: Docker</a:t>
            </a:r>
            <a:r>
              <a:rPr lang="ja-JP" altLang="en-US" sz="2800" dirty="0"/>
              <a:t>コンテナ</a:t>
            </a:r>
          </a:p>
          <a:p>
            <a:r>
              <a:rPr lang="ja-JP" altLang="en-US" sz="2800" dirty="0"/>
              <a:t>選定理由</a:t>
            </a:r>
            <a:r>
              <a:rPr lang="en-US" altLang="ja-JP" sz="2800" dirty="0"/>
              <a:t>:</a:t>
            </a:r>
          </a:p>
          <a:p>
            <a:pPr lvl="1">
              <a:spcAft>
                <a:spcPts val="600"/>
              </a:spcAft>
            </a:pPr>
            <a:r>
              <a:rPr lang="ja-JP" altLang="en-US" sz="2800" dirty="0"/>
              <a:t>堅牢性</a:t>
            </a:r>
            <a:r>
              <a:rPr lang="en-US" altLang="ja-JP" sz="2800" dirty="0"/>
              <a:t>: ACID</a:t>
            </a:r>
            <a:r>
              <a:rPr lang="ja-JP" altLang="en-US" sz="2800" dirty="0"/>
              <a:t>特性に準拠し、業務データの整合性を確実に守るため。</a:t>
            </a:r>
          </a:p>
          <a:p>
            <a:pPr lvl="1">
              <a:spcAft>
                <a:spcPts val="600"/>
              </a:spcAft>
            </a:pPr>
            <a:r>
              <a:rPr lang="ja-JP" altLang="en-US" sz="2800" dirty="0"/>
              <a:t>拡張性</a:t>
            </a:r>
            <a:r>
              <a:rPr lang="en-US" altLang="ja-JP" sz="2800" dirty="0"/>
              <a:t>: </a:t>
            </a:r>
            <a:r>
              <a:rPr lang="ja-JP" altLang="en-US" sz="2800" dirty="0"/>
              <a:t>複雑なクエリや大量データの集計処理に強いため。</a:t>
            </a:r>
          </a:p>
          <a:p>
            <a:pPr lvl="1"/>
            <a:r>
              <a:rPr lang="ja-JP" altLang="en-US" sz="2800" dirty="0"/>
              <a:t>データ永続化</a:t>
            </a:r>
            <a:r>
              <a:rPr lang="en-US" altLang="ja-JP" sz="2800" dirty="0"/>
              <a:t>:</a:t>
            </a:r>
          </a:p>
          <a:p>
            <a:pPr lvl="2"/>
            <a:r>
              <a:rPr lang="en-US" altLang="ja-JP" sz="2800" dirty="0"/>
              <a:t>Docker Volume (</a:t>
            </a:r>
            <a:r>
              <a:rPr lang="en-US" altLang="ja-JP" sz="2800" dirty="0" err="1"/>
              <a:t>postgres_data</a:t>
            </a:r>
            <a:r>
              <a:rPr lang="en-US" altLang="ja-JP" sz="2800" dirty="0"/>
              <a:t>) </a:t>
            </a:r>
            <a:r>
              <a:rPr lang="ja-JP" altLang="en-US" sz="2800" dirty="0"/>
              <a:t>をマウントし、コンテナのライフサイクルとは独立してデータを永続保存する構成を採用。</a:t>
            </a:r>
          </a:p>
        </p:txBody>
      </p:sp>
    </p:spTree>
    <p:extLst>
      <p:ext uri="{BB962C8B-B14F-4D97-AF65-F5344CB8AC3E}">
        <p14:creationId xmlns:p14="http://schemas.microsoft.com/office/powerpoint/2010/main" val="159202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364D-54C9-D6F6-0CF0-C9E77891A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CAEC88-5000-E7CD-6B22-C14B4637B13E}"/>
              </a:ext>
            </a:extLst>
          </p:cNvPr>
          <p:cNvSpPr txBox="1"/>
          <p:nvPr/>
        </p:nvSpPr>
        <p:spPr>
          <a:xfrm>
            <a:off x="1202135" y="676763"/>
            <a:ext cx="78951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E-R</a:t>
            </a:r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モデルとスキーマ設計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029BA2-DBDE-21A5-6175-5688B34FF5F0}"/>
              </a:ext>
            </a:extLst>
          </p:cNvPr>
          <p:cNvSpPr txBox="1"/>
          <p:nvPr/>
        </p:nvSpPr>
        <p:spPr>
          <a:xfrm>
            <a:off x="406885" y="1874728"/>
            <a:ext cx="11378230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ja-JP" altLang="en-US" sz="2800" dirty="0">
                <a:latin typeface="+mj-ea"/>
                <a:ea typeface="+mj-ea"/>
              </a:rPr>
              <a:t>概要</a:t>
            </a:r>
            <a:r>
              <a:rPr lang="en-US" altLang="ja-JP" sz="2800" dirty="0">
                <a:latin typeface="+mj-ea"/>
                <a:ea typeface="+mj-ea"/>
              </a:rPr>
              <a:t>: </a:t>
            </a:r>
            <a:r>
              <a:rPr lang="ja-JP" altLang="en-US" sz="2800" dirty="0">
                <a:latin typeface="+mj-ea"/>
                <a:ea typeface="+mj-ea"/>
              </a:rPr>
              <a:t>業務要件を分析し、以下の主要エンティティを定義。</a:t>
            </a:r>
          </a:p>
          <a:p>
            <a:r>
              <a:rPr lang="ja-JP" altLang="en-US" sz="2800" dirty="0">
                <a:latin typeface="+mj-ea"/>
                <a:ea typeface="+mj-ea"/>
              </a:rPr>
              <a:t>主要テーブル</a:t>
            </a:r>
            <a:r>
              <a:rPr lang="en-US" altLang="ja-JP" sz="2800" dirty="0">
                <a:latin typeface="+mj-ea"/>
                <a:ea typeface="+mj-ea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lang="en-US" altLang="ja-JP" sz="2800" dirty="0">
                <a:latin typeface="+mj-ea"/>
                <a:ea typeface="+mj-ea"/>
              </a:rPr>
              <a:t>Users: </a:t>
            </a:r>
            <a:r>
              <a:rPr lang="ja-JP" altLang="en-US" sz="2800" dirty="0">
                <a:latin typeface="+mj-ea"/>
                <a:ea typeface="+mj-ea"/>
              </a:rPr>
              <a:t>ユーザー認証情報（</a:t>
            </a:r>
            <a:r>
              <a:rPr lang="en-US" altLang="ja-JP" sz="2800" dirty="0">
                <a:latin typeface="+mj-ea"/>
                <a:ea typeface="+mj-ea"/>
              </a:rPr>
              <a:t>Django</a:t>
            </a:r>
            <a:r>
              <a:rPr lang="ja-JP" altLang="en-US" sz="2800" dirty="0">
                <a:latin typeface="+mj-ea"/>
                <a:ea typeface="+mj-ea"/>
              </a:rPr>
              <a:t>標準拡張）。</a:t>
            </a:r>
          </a:p>
          <a:p>
            <a:pPr lvl="1">
              <a:spcAft>
                <a:spcPts val="600"/>
              </a:spcAft>
            </a:pPr>
            <a:r>
              <a:rPr lang="en-US" altLang="ja-JP" sz="2800" dirty="0">
                <a:latin typeface="+mj-ea"/>
                <a:ea typeface="+mj-ea"/>
              </a:rPr>
              <a:t>Reports: </a:t>
            </a:r>
            <a:r>
              <a:rPr lang="ja-JP" altLang="en-US" sz="2800" dirty="0">
                <a:latin typeface="+mj-ea"/>
                <a:ea typeface="+mj-ea"/>
              </a:rPr>
              <a:t>日報のメインデータ。</a:t>
            </a:r>
            <a:r>
              <a:rPr lang="en-US" altLang="ja-JP" sz="2800" dirty="0">
                <a:latin typeface="+mj-ea"/>
                <a:ea typeface="+mj-ea"/>
              </a:rPr>
              <a:t>condition</a:t>
            </a:r>
            <a:r>
              <a:rPr lang="ja-JP" altLang="en-US" sz="2800" dirty="0">
                <a:latin typeface="+mj-ea"/>
                <a:ea typeface="+mj-ea"/>
              </a:rPr>
              <a:t>（数値）や </a:t>
            </a:r>
            <a:r>
              <a:rPr lang="en-US" altLang="ja-JP" sz="2800" dirty="0">
                <a:latin typeface="+mj-ea"/>
                <a:ea typeface="+mj-ea"/>
              </a:rPr>
              <a:t>image</a:t>
            </a:r>
            <a:r>
              <a:rPr lang="ja-JP" altLang="en-US" sz="2800" dirty="0">
                <a:latin typeface="+mj-ea"/>
                <a:ea typeface="+mj-ea"/>
              </a:rPr>
              <a:t>（パス）を保持。</a:t>
            </a:r>
          </a:p>
          <a:p>
            <a:pPr lvl="1"/>
            <a:r>
              <a:rPr lang="en-US" altLang="ja-JP" sz="2800" dirty="0">
                <a:latin typeface="+mj-ea"/>
                <a:ea typeface="+mj-ea"/>
              </a:rPr>
              <a:t>Categories / Tags: </a:t>
            </a:r>
          </a:p>
          <a:p>
            <a:pPr lvl="2"/>
            <a:r>
              <a:rPr lang="ja-JP" altLang="en-US" sz="2800" dirty="0">
                <a:latin typeface="+mj-ea"/>
                <a:ea typeface="+mj-ea"/>
              </a:rPr>
              <a:t>マスターデータとして独立させ、検索効率と保守性を向上。</a:t>
            </a:r>
          </a:p>
        </p:txBody>
      </p:sp>
    </p:spTree>
    <p:extLst>
      <p:ext uri="{BB962C8B-B14F-4D97-AF65-F5344CB8AC3E}">
        <p14:creationId xmlns:p14="http://schemas.microsoft.com/office/powerpoint/2010/main" val="99569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1C2E2-B2F6-8BEB-E486-F7D710C8B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BC5C65-4FD0-9DAA-6670-F938575581B1}"/>
              </a:ext>
            </a:extLst>
          </p:cNvPr>
          <p:cNvSpPr txBox="1"/>
          <p:nvPr/>
        </p:nvSpPr>
        <p:spPr>
          <a:xfrm>
            <a:off x="1202135" y="676763"/>
            <a:ext cx="78951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E-R</a:t>
            </a:r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モデルとスキーマ設計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1FAD716-4D96-3160-AF28-7C007F6F1705}"/>
              </a:ext>
            </a:extLst>
          </p:cNvPr>
          <p:cNvSpPr txBox="1"/>
          <p:nvPr/>
        </p:nvSpPr>
        <p:spPr>
          <a:xfrm>
            <a:off x="406885" y="1874728"/>
            <a:ext cx="11378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ja-JP" altLang="en-US" sz="2800" dirty="0">
                <a:latin typeface="+mj-ea"/>
                <a:ea typeface="+mj-ea"/>
              </a:rPr>
              <a:t>ビジュアル</a:t>
            </a:r>
            <a:r>
              <a:rPr lang="en-US" altLang="ja-JP" sz="2800" dirty="0">
                <a:latin typeface="+mj-ea"/>
                <a:ea typeface="+mj-ea"/>
              </a:rPr>
              <a:t>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5F9EC5-F0A4-144B-33B1-74266CE82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797" y="1946394"/>
            <a:ext cx="5424405" cy="423484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417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50FF-AAF7-6546-2FF6-A7AA5427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482721-B1C4-5A3B-4B5A-F17253694181}"/>
              </a:ext>
            </a:extLst>
          </p:cNvPr>
          <p:cNvSpPr txBox="1"/>
          <p:nvPr/>
        </p:nvSpPr>
        <p:spPr>
          <a:xfrm>
            <a:off x="1202135" y="676763"/>
            <a:ext cx="75777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正規化とリレーション設計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AF61621-5372-A4B6-2F72-2561016F544E}"/>
              </a:ext>
            </a:extLst>
          </p:cNvPr>
          <p:cNvSpPr txBox="1"/>
          <p:nvPr/>
        </p:nvSpPr>
        <p:spPr>
          <a:xfrm>
            <a:off x="406885" y="1874728"/>
            <a:ext cx="1137823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正規化への取り組み</a:t>
            </a:r>
            <a:r>
              <a:rPr lang="en-US" altLang="ja-JP" sz="2800" dirty="0"/>
              <a:t>: </a:t>
            </a:r>
          </a:p>
          <a:p>
            <a:pPr lvl="1">
              <a:spcAft>
                <a:spcPts val="1800"/>
              </a:spcAft>
            </a:pPr>
            <a:r>
              <a:rPr lang="ja-JP" altLang="en-US" sz="2800" dirty="0"/>
              <a:t>繰り返し項目（タグなど）や、重複する属性（カテゴリー名）を別テーブルに切り出し、第</a:t>
            </a:r>
            <a:r>
              <a:rPr lang="en-US" altLang="ja-JP" sz="2800" dirty="0"/>
              <a:t>3</a:t>
            </a:r>
            <a:r>
              <a:rPr lang="ja-JP" altLang="en-US" sz="2800" dirty="0"/>
              <a:t>正規形（</a:t>
            </a:r>
            <a:r>
              <a:rPr lang="en-US" altLang="ja-JP" sz="2800" dirty="0"/>
              <a:t>3NF</a:t>
            </a:r>
            <a:r>
              <a:rPr lang="ja-JP" altLang="en-US" sz="2800" dirty="0"/>
              <a:t>）まで正規化を実施。データの冗長性を排除。</a:t>
            </a:r>
            <a:endParaRPr lang="en-US" altLang="ja-JP" sz="2800" dirty="0"/>
          </a:p>
          <a:p>
            <a:r>
              <a:rPr lang="ja-JP" altLang="en-US" sz="2800" dirty="0"/>
              <a:t>多対多（</a:t>
            </a:r>
            <a:r>
              <a:rPr lang="en-US" altLang="ja-JP" sz="2800" dirty="0"/>
              <a:t>Many-to-Many</a:t>
            </a:r>
            <a:r>
              <a:rPr lang="ja-JP" altLang="en-US" sz="2800" dirty="0"/>
              <a:t>）の解決</a:t>
            </a:r>
            <a:r>
              <a:rPr lang="en-US" altLang="ja-JP" sz="2800" dirty="0"/>
              <a:t>:</a:t>
            </a:r>
          </a:p>
          <a:p>
            <a:pPr lvl="1">
              <a:spcAft>
                <a:spcPts val="600"/>
              </a:spcAft>
            </a:pPr>
            <a:r>
              <a:rPr lang="ja-JP" altLang="en-US" sz="2800" dirty="0"/>
              <a:t>課題</a:t>
            </a:r>
            <a:r>
              <a:rPr lang="en-US" altLang="ja-JP" sz="2800" dirty="0"/>
              <a:t>: 1</a:t>
            </a:r>
            <a:r>
              <a:rPr lang="ja-JP" altLang="en-US" sz="2800" dirty="0"/>
              <a:t>つの日報に複数のタグがつき、</a:t>
            </a:r>
            <a:r>
              <a:rPr lang="en-US" altLang="ja-JP" sz="2800" dirty="0"/>
              <a:t>1</a:t>
            </a:r>
            <a:r>
              <a:rPr lang="ja-JP" altLang="en-US" sz="2800" dirty="0"/>
              <a:t>つのタグは複数の日報につく。</a:t>
            </a:r>
          </a:p>
          <a:p>
            <a:pPr lvl="1">
              <a:spcAft>
                <a:spcPts val="1200"/>
              </a:spcAft>
            </a:pPr>
            <a:r>
              <a:rPr lang="ja-JP" altLang="en-US" sz="2800" dirty="0"/>
              <a:t>解決策</a:t>
            </a:r>
            <a:r>
              <a:rPr lang="en-US" altLang="ja-JP" sz="2800" dirty="0"/>
              <a:t>: </a:t>
            </a:r>
            <a:r>
              <a:rPr lang="ja-JP" altLang="en-US" sz="2800" dirty="0"/>
              <a:t>中間テーブル </a:t>
            </a:r>
            <a:r>
              <a:rPr lang="en-US" altLang="ja-JP" sz="2800" dirty="0" err="1"/>
              <a:t>Report_Tags</a:t>
            </a:r>
            <a:r>
              <a:rPr lang="en-US" altLang="ja-JP" sz="2800" dirty="0"/>
              <a:t> </a:t>
            </a:r>
            <a:r>
              <a:rPr lang="ja-JP" altLang="en-US" sz="2800" dirty="0"/>
              <a:t>を物理実装し、関連を管理。</a:t>
            </a:r>
            <a:endParaRPr lang="en-US" altLang="ja-JP" sz="2800" dirty="0"/>
          </a:p>
          <a:p>
            <a:pPr lvl="1">
              <a:spcAft>
                <a:spcPts val="600"/>
              </a:spcAft>
            </a:pPr>
            <a:r>
              <a:rPr lang="ja-JP" altLang="en-US" sz="2800" dirty="0"/>
              <a:t>これにより、タグごとの記事抽出や、記事ごとのタグ一覧取得を高速に行える設計とした。</a:t>
            </a:r>
          </a:p>
        </p:txBody>
      </p:sp>
    </p:spTree>
    <p:extLst>
      <p:ext uri="{BB962C8B-B14F-4D97-AF65-F5344CB8AC3E}">
        <p14:creationId xmlns:p14="http://schemas.microsoft.com/office/powerpoint/2010/main" val="1986847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7B7D9-9206-9D0B-3FA5-57E8C857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F0AE52-6400-EB9B-F9D8-19CAA5278CF1}"/>
              </a:ext>
            </a:extLst>
          </p:cNvPr>
          <p:cNvSpPr txBox="1"/>
          <p:nvPr/>
        </p:nvSpPr>
        <p:spPr>
          <a:xfrm>
            <a:off x="1218177" y="630780"/>
            <a:ext cx="86950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 データ整合性の担保</a:t>
            </a:r>
            <a:r>
              <a:rPr kumimoji="1" lang="en-US" altLang="ja-JP" sz="2800" dirty="0">
                <a:latin typeface="+mj-ea"/>
                <a:ea typeface="+mj-ea"/>
              </a:rPr>
              <a:t> (Constraints)</a:t>
            </a:r>
            <a:endParaRPr kumimoji="1" lang="ja-JP" altLang="en-US" sz="2800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811BC33-4C4B-D0EA-879F-78D75ADFEE8D}"/>
              </a:ext>
            </a:extLst>
          </p:cNvPr>
          <p:cNvSpPr txBox="1"/>
          <p:nvPr/>
        </p:nvSpPr>
        <p:spPr>
          <a:xfrm>
            <a:off x="406885" y="1874728"/>
            <a:ext cx="1137823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実装した制約</a:t>
            </a:r>
            <a:r>
              <a:rPr lang="en-US" altLang="ja-JP" sz="2800" dirty="0"/>
              <a:t>:</a:t>
            </a:r>
          </a:p>
          <a:p>
            <a:pPr lvl="1">
              <a:spcAft>
                <a:spcPts val="1200"/>
              </a:spcAft>
            </a:pPr>
            <a:r>
              <a:rPr lang="ja-JP" altLang="en-US" sz="2800" dirty="0"/>
              <a:t>主キー制約 </a:t>
            </a:r>
            <a:r>
              <a:rPr lang="en-US" altLang="ja-JP" sz="2800" dirty="0"/>
              <a:t>(Primary Key): </a:t>
            </a:r>
            <a:r>
              <a:rPr lang="ja-JP" altLang="en-US" sz="2800" dirty="0"/>
              <a:t>全テーブルに</a:t>
            </a:r>
            <a:r>
              <a:rPr lang="en-US" altLang="ja-JP" sz="2800" dirty="0"/>
              <a:t>ID</a:t>
            </a:r>
            <a:r>
              <a:rPr lang="ja-JP" altLang="en-US" sz="2800" dirty="0"/>
              <a:t>を設定し、行の一意性を保証。</a:t>
            </a:r>
          </a:p>
          <a:p>
            <a:pPr lvl="1"/>
            <a:r>
              <a:rPr lang="ja-JP" altLang="en-US" sz="2800" dirty="0"/>
              <a:t>外部キー制約 </a:t>
            </a:r>
            <a:r>
              <a:rPr lang="en-US" altLang="ja-JP" sz="2800" dirty="0"/>
              <a:t>(Foreign Key): </a:t>
            </a:r>
          </a:p>
          <a:p>
            <a:pPr lvl="2">
              <a:spcAft>
                <a:spcPts val="1200"/>
              </a:spcAft>
            </a:pPr>
            <a:r>
              <a:rPr lang="en-US" altLang="ja-JP" sz="2800" dirty="0"/>
              <a:t>Reports </a:t>
            </a:r>
            <a:r>
              <a:rPr lang="ja-JP" altLang="en-US" sz="2800" dirty="0"/>
              <a:t>テーブルにおける </a:t>
            </a:r>
            <a:r>
              <a:rPr lang="en-US" altLang="ja-JP" sz="2800" dirty="0" err="1"/>
              <a:t>user_id</a:t>
            </a:r>
            <a:r>
              <a:rPr lang="en-US" altLang="ja-JP" sz="2800" dirty="0"/>
              <a:t> </a:t>
            </a:r>
            <a:r>
              <a:rPr lang="ja-JP" altLang="en-US" sz="2800" dirty="0"/>
              <a:t>や </a:t>
            </a:r>
            <a:r>
              <a:rPr lang="en-US" altLang="ja-JP" sz="2800" dirty="0" err="1"/>
              <a:t>category_id</a:t>
            </a:r>
            <a:r>
              <a:rPr lang="en-US" altLang="ja-JP" sz="2800" dirty="0"/>
              <a:t> </a:t>
            </a:r>
            <a:r>
              <a:rPr lang="ja-JP" altLang="en-US" sz="2800" dirty="0"/>
              <a:t>に設定。親データが存在しない子の登録を防ぎ、参照整合性を維持。</a:t>
            </a:r>
          </a:p>
          <a:p>
            <a:pPr lvl="1"/>
            <a:r>
              <a:rPr lang="ja-JP" altLang="en-US" sz="2800" dirty="0"/>
              <a:t>ユニーク制約 </a:t>
            </a:r>
            <a:r>
              <a:rPr lang="en-US" altLang="ja-JP" sz="2800" dirty="0"/>
              <a:t>(Unique): </a:t>
            </a:r>
          </a:p>
          <a:p>
            <a:pPr lvl="2"/>
            <a:r>
              <a:rPr lang="ja-JP" altLang="en-US" sz="2800" dirty="0"/>
              <a:t>ユーザー名 </a:t>
            </a:r>
            <a:r>
              <a:rPr lang="en-US" altLang="ja-JP" sz="2800" dirty="0"/>
              <a:t>(username) </a:t>
            </a:r>
            <a:r>
              <a:rPr lang="ja-JP" altLang="en-US" sz="2800" dirty="0"/>
              <a:t>やタグ名 </a:t>
            </a:r>
            <a:r>
              <a:rPr lang="en-US" altLang="ja-JP" sz="2800" dirty="0"/>
              <a:t>(name) </a:t>
            </a:r>
            <a:r>
              <a:rPr lang="ja-JP" altLang="en-US" sz="2800" dirty="0"/>
              <a:t>の重複をデータベースレベルで禁止。</a:t>
            </a:r>
          </a:p>
        </p:txBody>
      </p:sp>
    </p:spTree>
    <p:extLst>
      <p:ext uri="{BB962C8B-B14F-4D97-AF65-F5344CB8AC3E}">
        <p14:creationId xmlns:p14="http://schemas.microsoft.com/office/powerpoint/2010/main" val="3501708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32BF2-8452-8916-1DA3-28327A78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9EE0B7-9CFB-D3A0-9562-A84AEE5B539C}"/>
              </a:ext>
            </a:extLst>
          </p:cNvPr>
          <p:cNvSpPr txBox="1"/>
          <p:nvPr/>
        </p:nvSpPr>
        <p:spPr>
          <a:xfrm>
            <a:off x="1218177" y="630780"/>
            <a:ext cx="86950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 データ整合性の担保</a:t>
            </a:r>
            <a:r>
              <a:rPr kumimoji="1" lang="en-US" altLang="ja-JP" sz="2800" dirty="0">
                <a:latin typeface="+mj-ea"/>
                <a:ea typeface="+mj-ea"/>
              </a:rPr>
              <a:t> (Constraints)</a:t>
            </a:r>
            <a:endParaRPr kumimoji="1" lang="ja-JP" altLang="en-US" sz="2800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B70CF4-8566-A581-874B-6C070E95B150}"/>
              </a:ext>
            </a:extLst>
          </p:cNvPr>
          <p:cNvSpPr txBox="1"/>
          <p:nvPr/>
        </p:nvSpPr>
        <p:spPr>
          <a:xfrm>
            <a:off x="406885" y="1874728"/>
            <a:ext cx="113782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トランザクション</a:t>
            </a:r>
            <a:r>
              <a:rPr lang="en-US" altLang="ja-JP" sz="2800" dirty="0"/>
              <a:t>:</a:t>
            </a:r>
          </a:p>
          <a:p>
            <a:pPr lvl="1"/>
            <a:r>
              <a:rPr lang="ja-JP" altLang="en-US" sz="2800" dirty="0"/>
              <a:t>記事投稿とタグ保存の処理において、原子性（</a:t>
            </a:r>
            <a:r>
              <a:rPr lang="en-US" altLang="ja-JP" sz="2800" dirty="0"/>
              <a:t>Atomicity</a:t>
            </a:r>
            <a:r>
              <a:rPr lang="ja-JP" altLang="en-US" sz="2800" dirty="0"/>
              <a:t>）を保証するためトランザクション制御を適用。</a:t>
            </a:r>
          </a:p>
        </p:txBody>
      </p:sp>
    </p:spTree>
    <p:extLst>
      <p:ext uri="{BB962C8B-B14F-4D97-AF65-F5344CB8AC3E}">
        <p14:creationId xmlns:p14="http://schemas.microsoft.com/office/powerpoint/2010/main" val="2709762669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417</Words>
  <Application>Microsoft Office PowerPoint</Application>
  <PresentationFormat>ワイド画面</PresentationFormat>
  <Paragraphs>40</Paragraphs>
  <Slides>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HGP創英角ﾎﾟｯﾌﾟ体</vt:lpstr>
      <vt:lpstr>ＭＳ ゴシック</vt:lpstr>
      <vt:lpstr>游ゴシック</vt:lpstr>
      <vt:lpstr>Arial</vt:lpstr>
      <vt:lpstr>Calibri</vt:lpstr>
      <vt:lpstr>Calibri Light</vt:lpstr>
      <vt:lpstr>レトロスペクト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g2442102/渡邉 諒</dc:creator>
  <cp:lastModifiedBy>田中誠真</cp:lastModifiedBy>
  <cp:revision>29</cp:revision>
  <dcterms:created xsi:type="dcterms:W3CDTF">2025-12-19T01:33:25Z</dcterms:created>
  <dcterms:modified xsi:type="dcterms:W3CDTF">2025-12-24T07:22:37Z</dcterms:modified>
</cp:coreProperties>
</file>